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embeddedFontLst>
    <p:embeddedFont>
      <p:font typeface="Assistant" pitchFamily="2" charset="-79"/>
      <p:regular r:id="rId31"/>
      <p:bold r:id="rId32"/>
    </p:embeddedFont>
    <p:embeddedFont>
      <p:font typeface="Heebo" pitchFamily="2" charset="-79"/>
      <p:regular r:id="rId33"/>
      <p:bold r:id="rId34"/>
    </p:embeddedFont>
    <p:embeddedFont>
      <p:font typeface="Heebo ExtraBold" pitchFamily="2" charset="-79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818A2C4-7DA0-4F76-A5B3-8B96248F8CAC}">
  <a:tblStyle styleId="{C818A2C4-7DA0-4F76-A5B3-8B96248F8CA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2b629f801_0_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2b629f801_0_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2b629f801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2b629f801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e2b629f801_0_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e2b629f801_0_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2b629f801_13_0)">
  <p:cSld name="Generated (g3e2b629f801_13_0)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jpe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jpeg"/><Relationship Id="rId5" Type="http://schemas.openxmlformats.org/officeDocument/2006/relationships/image" Target="../media/image4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jpe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jpe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6.jpe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31.png"/><Relationship Id="rId4" Type="http://schemas.openxmlformats.org/officeDocument/2006/relationships/image" Target="../media/image47.png"/><Relationship Id="rId9" Type="http://schemas.openxmlformats.org/officeDocument/2006/relationships/image" Target="../media/image5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2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7.jp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iki.tcl-lang.org/page/Garbage+collection" TargetMode="External"/><Relationship Id="rId13" Type="http://schemas.openxmlformats.org/officeDocument/2006/relationships/hyperlink" Target="http://www.beedub.com/book/2nd/Name.doc.html" TargetMode="External"/><Relationship Id="rId3" Type="http://schemas.openxmlformats.org/officeDocument/2006/relationships/hyperlink" Target="https://tldp.org/HOWTO/TclTk-HOWTO-2.html" TargetMode="External"/><Relationship Id="rId7" Type="http://schemas.openxmlformats.org/officeDocument/2006/relationships/hyperlink" Target="https://wiki.tcl-lang.org/page/memory+management" TargetMode="External"/><Relationship Id="rId12" Type="http://schemas.openxmlformats.org/officeDocument/2006/relationships/hyperlink" Target="https://www.tcl-lang.org/man/tcl8.4/TclCmd/expr.htm" TargetMode="External"/><Relationship Id="rId2" Type="http://schemas.openxmlformats.org/officeDocument/2006/relationships/notesSlide" Target="../notesSlides/notesSlide28.xml"/><Relationship Id="rId16" Type="http://schemas.openxmlformats.org/officeDocument/2006/relationships/hyperlink" Target="https://next-scripting.org/xowiki/docs/nx/tutorial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iki.tcl-lang.org/page/everything+is+a+string" TargetMode="External"/><Relationship Id="rId11" Type="http://schemas.openxmlformats.org/officeDocument/2006/relationships/hyperlink" Target="https://wiki.tcl-lang.org/page/Tcl+Tutorial+Lesson+14" TargetMode="External"/><Relationship Id="rId5" Type="http://schemas.openxmlformats.org/officeDocument/2006/relationships/hyperlink" Target="https://www.usenix.org/legacy/events/tcl98/tcl98/full_papers/amaranth/amaranth_html/amaranth.html" TargetMode="External"/><Relationship Id="rId15" Type="http://schemas.openxmlformats.org/officeDocument/2006/relationships/hyperlink" Target="https://github.com/tcltk/tcloo" TargetMode="External"/><Relationship Id="rId10" Type="http://schemas.openxmlformats.org/officeDocument/2006/relationships/hyperlink" Target="https://www.equi4.com/moam/strength.html" TargetMode="External"/><Relationship Id="rId4" Type="http://schemas.openxmlformats.org/officeDocument/2006/relationships/hyperlink" Target="https://www.devx.com/terms/glue-language/" TargetMode="External"/><Relationship Id="rId9" Type="http://schemas.openxmlformats.org/officeDocument/2006/relationships/hyperlink" Target="https://arxiv.org/html/2604.10399v1" TargetMode="External"/><Relationship Id="rId14" Type="http://schemas.openxmlformats.org/officeDocument/2006/relationships/hyperlink" Target="https://wiki.tcl-lang.org/page/Advantages+and+Disadvantages+of+OO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295275" y="1674614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0" i="0" u="none" strike="noStrike" cap="none" noProof="0" dirty="0" err="1">
                <a:solidFill>
                  <a:srgbClr val="003366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Tcl</a:t>
            </a:r>
            <a:endParaRPr lang="he-IL" noProof="0" dirty="0"/>
          </a:p>
        </p:txBody>
      </p:sp>
      <p:sp>
        <p:nvSpPr>
          <p:cNvPr id="87" name="Google Shape;87;p14"/>
          <p:cNvSpPr txBox="1"/>
          <p:nvPr/>
        </p:nvSpPr>
        <p:spPr>
          <a:xfrm>
            <a:off x="571500" y="2722364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4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Tool</a:t>
            </a:r>
            <a:r>
              <a:rPr lang="he-IL" sz="24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4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Command</a:t>
            </a:r>
            <a:r>
              <a:rPr lang="he-IL" sz="24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4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Language</a:t>
            </a:r>
            <a:endParaRPr lang="he-IL" noProof="0" dirty="0"/>
          </a:p>
        </p:txBody>
      </p:sp>
      <p:sp>
        <p:nvSpPr>
          <p:cNvPr id="88" name="Google Shape;88;p14"/>
          <p:cNvSpPr/>
          <p:nvPr/>
        </p:nvSpPr>
        <p:spPr>
          <a:xfrm>
            <a:off x="5143500" y="3781425"/>
            <a:ext cx="1905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571500" y="4010025"/>
            <a:ext cx="1104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7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קורס: עקרונות שפות תכנות</a:t>
            </a:r>
            <a:endParaRPr lang="he-IL" sz="2000" noProof="0" dirty="0"/>
          </a:p>
        </p:txBody>
      </p:sp>
      <p:sp>
        <p:nvSpPr>
          <p:cNvPr id="90" name="Google Shape;90;p14"/>
          <p:cNvSpPr txBox="1"/>
          <p:nvPr/>
        </p:nvSpPr>
        <p:spPr>
          <a:xfrm>
            <a:off x="571500" y="481771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מגישים: 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גדליה סבע ונועם חדד</a:t>
            </a:r>
            <a:endParaRPr lang="he-IL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3099"/>
            <a:ext cx="5334000" cy="303192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28575" y="571500"/>
            <a:ext cx="11401500" cy="9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41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רקע והיסטוריה</a:t>
            </a:r>
            <a:endParaRPr lang="he-IL" sz="2200" noProof="0" dirty="0"/>
          </a:p>
        </p:txBody>
      </p:sp>
      <p:sp>
        <p:nvSpPr>
          <p:cNvPr id="98" name="Google Shape;98;p15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6286500" y="2413099"/>
            <a:ext cx="50007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פותחה בשנת</a:t>
            </a:r>
            <a:r>
              <a:rPr lang="he-IL" sz="165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1988 </a:t>
            </a:r>
            <a:r>
              <a:rPr lang="he-IL" sz="165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ע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"י 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John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Ousterhout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 באוניברסיטת ברקלי.</a:t>
            </a:r>
            <a:endParaRPr lang="he-IL" noProof="0" dirty="0"/>
          </a:p>
        </p:txBody>
      </p:sp>
      <p:sp>
        <p:nvSpPr>
          <p:cNvPr id="100" name="Google Shape;100;p15"/>
          <p:cNvSpPr txBox="1"/>
          <p:nvPr/>
        </p:nvSpPr>
        <p:spPr>
          <a:xfrm>
            <a:off x="6286500" y="2919710"/>
            <a:ext cx="5000625" cy="841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נוצרה כשפת פקודות אוניברסלית הניתנת להטמעה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Embeddable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</a:t>
            </a:r>
            <a:r>
              <a:rPr lang="he-IL" sz="165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במערכות C/C++.</a:t>
            </a:r>
            <a:endParaRPr lang="he-IL" noProof="0" dirty="0"/>
          </a:p>
        </p:txBody>
      </p:sp>
      <p:sp>
        <p:nvSpPr>
          <p:cNvPr id="101" name="Google Shape;101;p15"/>
          <p:cNvSpPr txBox="1"/>
          <p:nvPr/>
        </p:nvSpPr>
        <p:spPr>
          <a:xfrm>
            <a:off x="6286500" y="3761482"/>
            <a:ext cx="5000625" cy="764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הושפעה משפות כמו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Lisp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(רשימות ודינמיות) ו-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Unix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Shells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(פשטות פקודות)</a:t>
            </a:r>
            <a:endParaRPr lang="he-IL" noProof="0" dirty="0"/>
          </a:p>
        </p:txBody>
      </p:sp>
      <p:sp>
        <p:nvSpPr>
          <p:cNvPr id="102" name="Google Shape;102;p15"/>
          <p:cNvSpPr txBox="1"/>
          <p:nvPr/>
        </p:nvSpPr>
        <p:spPr>
          <a:xfrm>
            <a:off x="6286500" y="4603253"/>
            <a:ext cx="5000625" cy="764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בשנת 1990 שוחררה ספריית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Tk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 שהפכה אותה לסטנדרט לפיתוח GUI.</a:t>
            </a:r>
            <a:endParaRPr lang="he-IL" noProof="0" dirty="0"/>
          </a:p>
        </p:txBody>
      </p:sp>
      <p:pic>
        <p:nvPicPr>
          <p:cNvPr id="103" name="Google Shape;10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253398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303556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387734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471911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7675" y="1190625"/>
            <a:ext cx="3650025" cy="45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488108"/>
            <a:ext cx="3492549" cy="288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88108"/>
            <a:ext cx="3492549" cy="288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351" y="2488108"/>
            <a:ext cx="3492549" cy="288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מטרות השפה וייחודה</a:t>
            </a:r>
            <a:endParaRPr lang="he-IL" noProof="0" dirty="0"/>
          </a:p>
        </p:txBody>
      </p:sp>
      <p:sp>
        <p:nvSpPr>
          <p:cNvPr id="117" name="Google Shape;117;p16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8350675" y="3573958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Glue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Language</a:t>
            </a:r>
            <a:endParaRPr lang="he-IL" noProof="0" dirty="0"/>
          </a:p>
        </p:txBody>
      </p:sp>
      <p:sp>
        <p:nvSpPr>
          <p:cNvPr id="119" name="Google Shape;119;p16"/>
          <p:cNvSpPr txBox="1"/>
          <p:nvPr/>
        </p:nvSpPr>
        <p:spPr>
          <a:xfrm>
            <a:off x="8423225" y="4069248"/>
            <a:ext cx="2901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נועדה לשמש כ"דבק" המחבר בין רכיבי תוכנה שונים שנכתבו בשפות נמוכות (C/C++).</a:t>
            </a:r>
            <a:endParaRPr lang="he-IL" noProof="0" dirty="0"/>
          </a:p>
        </p:txBody>
      </p:sp>
      <p:sp>
        <p:nvSpPr>
          <p:cNvPr id="120" name="Google Shape;120;p16"/>
          <p:cNvSpPr txBox="1"/>
          <p:nvPr/>
        </p:nvSpPr>
        <p:spPr>
          <a:xfrm>
            <a:off x="4572375" y="3573958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Rapid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Prototyping</a:t>
            </a:r>
            <a:endParaRPr lang="he-IL" noProof="0"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4644925" y="4069258"/>
            <a:ext cx="2901900" cy="6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פיתוח מהיר של ממשקי משתמש גרפיים בעזרת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Tk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וסקריפטים קצרים.</a:t>
            </a:r>
            <a:endParaRPr lang="he-IL" noProof="0"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794076" y="3573958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Industrial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Usage</a:t>
            </a:r>
            <a:endParaRPr lang="he-IL" noProof="0" dirty="0"/>
          </a:p>
        </p:txBody>
      </p:sp>
      <p:sp>
        <p:nvSpPr>
          <p:cNvPr id="123" name="Google Shape;123;p16"/>
          <p:cNvSpPr txBox="1"/>
          <p:nvPr/>
        </p:nvSpPr>
        <p:spPr>
          <a:xfrm>
            <a:off x="866626" y="4069258"/>
            <a:ext cx="2901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פתרון בעיות אוטומציה ובדיקות בתעשיית השבבים (EDA) והתקשורת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Cisco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).</a:t>
            </a:r>
            <a:endParaRPr lang="he-IL" noProof="0" dirty="0"/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45550" y="28500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8676" y="2850058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8951" y="2850058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036689"/>
            <a:ext cx="5334000" cy="1784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36689"/>
            <a:ext cx="5334000" cy="17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פרדיגמות תכנות</a:t>
            </a:r>
            <a:endParaRPr lang="he-IL" noProof="0" dirty="0"/>
          </a:p>
        </p:txBody>
      </p:sp>
      <p:sp>
        <p:nvSpPr>
          <p:cNvPr id="135" name="Google Shape;135;p17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6572250" y="3370064"/>
            <a:ext cx="50006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אימפרטיבית / פרוצדורלית</a:t>
            </a:r>
            <a:endParaRPr lang="he-IL" noProof="0" dirty="0"/>
          </a:p>
        </p:txBody>
      </p:sp>
      <p:sp>
        <p:nvSpPr>
          <p:cNvPr id="137" name="Google Shape;137;p17"/>
          <p:cNvSpPr txBox="1"/>
          <p:nvPr/>
        </p:nvSpPr>
        <p:spPr>
          <a:xfrm>
            <a:off x="6572250" y="3865364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זוהי הפרדיגמה המרכזית. התוכנית מבוצעת כרצף של פקודות המשנות את מצב הזיכרון.</a:t>
            </a:r>
            <a:endParaRPr lang="he-IL" noProof="0" dirty="0"/>
          </a:p>
        </p:txBody>
      </p:sp>
      <p:sp>
        <p:nvSpPr>
          <p:cNvPr id="138" name="Google Shape;138;p17"/>
          <p:cNvSpPr txBox="1"/>
          <p:nvPr/>
        </p:nvSpPr>
        <p:spPr>
          <a:xfrm>
            <a:off x="857250" y="3370064"/>
            <a:ext cx="50006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Event-Driven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&amp; OOP</a:t>
            </a:r>
            <a:endParaRPr lang="he-IL" noProof="0" dirty="0"/>
          </a:p>
        </p:txBody>
      </p:sp>
      <p:sp>
        <p:nvSpPr>
          <p:cNvPr id="139" name="Google Shape;139;p17"/>
          <p:cNvSpPr txBox="1"/>
          <p:nvPr/>
        </p:nvSpPr>
        <p:spPr>
          <a:xfrm>
            <a:off x="857250" y="3865364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תמיכה מובנית בלולאת אירועים. מאז גרסה 8.6 קיימת תמיכה מלאה ב-OOP דרך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TclOO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/>
          <p:nvPr/>
        </p:nvSpPr>
        <p:spPr>
          <a:xfrm>
            <a:off x="11563350" y="571500"/>
            <a:ext cx="57300" cy="619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e-IL" noProof="0" dirty="0"/>
          </a:p>
        </p:txBody>
      </p:sp>
      <p:sp>
        <p:nvSpPr>
          <p:cNvPr id="146" name="Google Shape;146;p18"/>
          <p:cNvSpPr txBox="1"/>
          <p:nvPr/>
        </p:nvSpPr>
        <p:spPr>
          <a:xfrm>
            <a:off x="28575" y="571500"/>
            <a:ext cx="114015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תחביר בסיסי ודוגמאות קוד</a:t>
            </a:r>
          </a:p>
        </p:txBody>
      </p:sp>
      <p:grpSp>
        <p:nvGrpSpPr>
          <p:cNvPr id="147" name="Google Shape;147;p18"/>
          <p:cNvGrpSpPr/>
          <p:nvPr/>
        </p:nvGrpSpPr>
        <p:grpSpPr>
          <a:xfrm>
            <a:off x="6286500" y="1714500"/>
            <a:ext cx="5334000" cy="1047900"/>
            <a:chOff x="0" y="0"/>
            <a:chExt cx="5334000" cy="1047900"/>
          </a:xfrm>
        </p:grpSpPr>
        <p:sp>
          <p:nvSpPr>
            <p:cNvPr id="148" name="Google Shape;148;p18"/>
            <p:cNvSpPr/>
            <p:nvPr/>
          </p:nvSpPr>
          <p:spPr>
            <a:xfrm>
              <a:off x="0" y="0"/>
              <a:ext cx="5334000" cy="1047900"/>
            </a:xfrm>
            <a:prstGeom prst="roundRect">
              <a:avLst>
                <a:gd name="adj" fmla="val 9090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381000" y="142950"/>
              <a:ext cx="4953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21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מבנה הפקודה</a:t>
              </a:r>
            </a:p>
            <a:p>
              <a:pPr lvl="0" algn="r" rtl="1">
                <a:spcBef>
                  <a:spcPts val="750"/>
                </a:spcBef>
              </a:pPr>
              <a:r>
                <a:rPr lang="he-IL" sz="16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כל פקודה היא רשימה: </a:t>
              </a:r>
              <a:r>
                <a:rPr lang="fr-FR" dirty="0">
                  <a:highlight>
                    <a:srgbClr val="F0F0F0"/>
                  </a:highlight>
                </a:rPr>
                <a:t>command arg1 arg2 ...</a:t>
              </a:r>
              <a:endParaRPr lang="he-IL" sz="16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50" name="Google Shape;150;p18"/>
          <p:cNvGrpSpPr/>
          <p:nvPr/>
        </p:nvGrpSpPr>
        <p:grpSpPr>
          <a:xfrm>
            <a:off x="6286500" y="2952750"/>
            <a:ext cx="5334000" cy="1047900"/>
            <a:chOff x="0" y="0"/>
            <a:chExt cx="5334000" cy="1047900"/>
          </a:xfrm>
        </p:grpSpPr>
        <p:sp>
          <p:nvSpPr>
            <p:cNvPr id="151" name="Google Shape;151;p18"/>
            <p:cNvSpPr/>
            <p:nvPr/>
          </p:nvSpPr>
          <p:spPr>
            <a:xfrm>
              <a:off x="0" y="0"/>
              <a:ext cx="5334000" cy="1047900"/>
            </a:xfrm>
            <a:prstGeom prst="roundRect">
              <a:avLst>
                <a:gd name="adj" fmla="val 9090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190500" y="142875"/>
              <a:ext cx="4953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21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גישה למשתנים</a:t>
              </a:r>
            </a:p>
            <a:p>
              <a:pPr marL="0" lvl="0" indent="0" algn="r" rtl="1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he-IL" sz="16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שימוש בסימן </a:t>
              </a:r>
              <a:r>
                <a:rPr lang="he-IL" sz="1600" b="0" noProof="0" dirty="0">
                  <a:solidFill>
                    <a:srgbClr val="2C3E50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$</a:t>
              </a:r>
              <a:r>
                <a:rPr lang="he-IL" sz="16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כדי לקבל את ערך המשתנה.</a:t>
              </a:r>
            </a:p>
          </p:txBody>
        </p:sp>
      </p:grpSp>
      <p:grpSp>
        <p:nvGrpSpPr>
          <p:cNvPr id="153" name="Google Shape;153;p18"/>
          <p:cNvGrpSpPr/>
          <p:nvPr/>
        </p:nvGrpSpPr>
        <p:grpSpPr>
          <a:xfrm>
            <a:off x="6286500" y="4191000"/>
            <a:ext cx="5334000" cy="1333500"/>
            <a:chOff x="0" y="0"/>
            <a:chExt cx="5334000" cy="1333500"/>
          </a:xfrm>
        </p:grpSpPr>
        <p:sp>
          <p:nvSpPr>
            <p:cNvPr id="154" name="Google Shape;154;p18"/>
            <p:cNvSpPr/>
            <p:nvPr/>
          </p:nvSpPr>
          <p:spPr>
            <a:xfrm>
              <a:off x="0" y="0"/>
              <a:ext cx="5334000" cy="1333500"/>
            </a:xfrm>
            <a:prstGeom prst="roundRect">
              <a:avLst>
                <a:gd name="adj" fmla="val 7142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155" name="Google Shape;155;p18"/>
            <p:cNvSpPr txBox="1"/>
            <p:nvPr/>
          </p:nvSpPr>
          <p:spPr>
            <a:xfrm>
              <a:off x="190500" y="142875"/>
              <a:ext cx="4953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21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סוגריים ותחביר</a:t>
              </a:r>
            </a:p>
            <a:p>
              <a:pPr marL="0" lvl="0" indent="0" algn="r" rtl="1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he-IL" sz="16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סוגריים מרובעים </a:t>
              </a:r>
              <a:r>
                <a:rPr lang="he-IL" sz="1600" b="0" noProof="0" dirty="0">
                  <a:solidFill>
                    <a:srgbClr val="2C3E50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[]</a:t>
              </a:r>
              <a:r>
                <a:rPr lang="he-IL" sz="16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לביצוע פקודה מקוננת. סוגריים מסולסלים </a:t>
              </a:r>
              <a:r>
                <a:rPr lang="he-IL" sz="1600" b="0" noProof="0" dirty="0">
                  <a:solidFill>
                    <a:srgbClr val="2C3E50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{}</a:t>
              </a:r>
              <a:r>
                <a:rPr lang="he-IL" sz="16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לבלוקים של קוד.</a:t>
              </a:r>
            </a:p>
          </p:txBody>
        </p:sp>
      </p:grpSp>
      <p:pic>
        <p:nvPicPr>
          <p:cNvPr id="3" name="תמונה 2">
            <a:extLst>
              <a:ext uri="{FF2B5EF4-FFF2-40B4-BE49-F238E27FC236}">
                <a16:creationId xmlns:a16="http://schemas.microsoft.com/office/drawing/2014/main" id="{EB552B8A-4025-7998-104F-AC810CE206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578864"/>
            <a:ext cx="4857750" cy="350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559546"/>
            <a:ext cx="3492549" cy="2739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559546"/>
            <a:ext cx="3492549" cy="2739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351" y="2559546"/>
            <a:ext cx="3492549" cy="273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קריטריונים להערכה - א'</a:t>
            </a:r>
            <a:endParaRPr lang="he-IL" noProof="0" dirty="0"/>
          </a:p>
        </p:txBody>
      </p:sp>
      <p:sp>
        <p:nvSpPr>
          <p:cNvPr id="167" name="Google Shape;167;p19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16975" y="2854821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8350675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Readability</a:t>
            </a:r>
            <a:endParaRPr lang="he-IL" noProof="0"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8423225" y="3997821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בינונית. הקוד נראה כטקסט פשוט, אך שימוש יתר בסוגריים {} ו-[] יוצר סרבול ויזואלי.</a:t>
            </a:r>
            <a:endParaRPr lang="he-IL" noProof="0" dirty="0"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251" y="285482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4572375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Writability</a:t>
            </a:r>
            <a:endParaRPr lang="he-IL" noProof="0" dirty="0"/>
          </a:p>
        </p:txBody>
      </p:sp>
      <p:sp>
        <p:nvSpPr>
          <p:cNvPr id="173" name="Google Shape;173;p19"/>
          <p:cNvSpPr txBox="1"/>
          <p:nvPr/>
        </p:nvSpPr>
        <p:spPr>
          <a:xfrm>
            <a:off x="4644925" y="3997821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גבוהה מאוד. כתיבה תמציתית, אין צורך בהצהרות משתנים מורכבות או בטיפוסים קשיחים.</a:t>
            </a:r>
            <a:endParaRPr lang="he-IL" noProof="0" dirty="0"/>
          </a:p>
        </p:txBody>
      </p:sp>
      <p:pic>
        <p:nvPicPr>
          <p:cNvPr id="174" name="Google Shape;174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60376" y="2854821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794076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Orthogonality</a:t>
            </a:r>
            <a:endParaRPr lang="he-IL" noProof="0"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866626" y="3997821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גבוהה ביותר. כל דבר הוא פקודה וכל ערך הוא מחרוזת. חוקיות עקבית לאורך כל השפה.</a:t>
            </a:r>
            <a:endParaRPr lang="he-IL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559546"/>
            <a:ext cx="3492549" cy="2739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559546"/>
            <a:ext cx="3492549" cy="2739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351" y="2559546"/>
            <a:ext cx="3492549" cy="273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קריטריונים להערכה - ב'</a:t>
            </a:r>
            <a:endParaRPr lang="he-IL" noProof="0" dirty="0"/>
          </a:p>
        </p:txBody>
      </p:sp>
      <p:sp>
        <p:nvSpPr>
          <p:cNvPr id="186" name="Google Shape;186;p20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45550" y="285482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8350675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Reliability</a:t>
            </a:r>
            <a:endParaRPr lang="he-IL" noProof="0" dirty="0"/>
          </a:p>
        </p:txBody>
      </p:sp>
      <p:sp>
        <p:nvSpPr>
          <p:cNvPr id="189" name="Google Shape;189;p20"/>
          <p:cNvSpPr txBox="1"/>
          <p:nvPr/>
        </p:nvSpPr>
        <p:spPr>
          <a:xfrm>
            <a:off x="8423225" y="3997821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בינונית. היעדר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Static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Typing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מוביל לשגיאות שמתגלות רק בזמן ריצה.</a:t>
            </a:r>
            <a:endParaRPr lang="he-IL" noProof="0" dirty="0"/>
          </a:p>
        </p:txBody>
      </p:sp>
      <p:pic>
        <p:nvPicPr>
          <p:cNvPr id="190" name="Google Shape;19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251" y="285482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4572375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Portability</a:t>
            </a:r>
            <a:endParaRPr lang="he-IL" noProof="0" dirty="0"/>
          </a:p>
        </p:txBody>
      </p:sp>
      <p:sp>
        <p:nvSpPr>
          <p:cNvPr id="192" name="Google Shape;192;p20"/>
          <p:cNvSpPr txBox="1"/>
          <p:nvPr/>
        </p:nvSpPr>
        <p:spPr>
          <a:xfrm>
            <a:off x="4644925" y="3997821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מצוינת. קוד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Tcl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רץ ללא שינוי על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Windows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Linux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ו-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macOS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בזכות המפרש.</a:t>
            </a:r>
            <a:endParaRPr lang="he-IL" noProof="0" dirty="0"/>
          </a:p>
        </p:txBody>
      </p:sp>
      <p:pic>
        <p:nvPicPr>
          <p:cNvPr id="193" name="Google Shape;193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8951" y="285482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794076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Cost</a:t>
            </a:r>
            <a:endParaRPr lang="he-IL" noProof="0" dirty="0"/>
          </a:p>
        </p:txBody>
      </p:sp>
      <p:sp>
        <p:nvSpPr>
          <p:cNvPr id="195" name="Google Shape;195;p20"/>
          <p:cNvSpPr txBox="1"/>
          <p:nvPr/>
        </p:nvSpPr>
        <p:spPr>
          <a:xfrm>
            <a:off x="866626" y="3997821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נמוכה. השפה חופשית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Open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Source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ועקומת הלמידה למשימות פשוטות מהירה מאוד.</a:t>
            </a:r>
            <a:endParaRPr lang="he-IL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טיפוסי נתונים: "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Everything</a:t>
            </a: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is</a:t>
            </a: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 a 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String</a:t>
            </a: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"</a:t>
            </a:r>
            <a:endParaRPr lang="he-IL" noProof="0" dirty="0"/>
          </a:p>
        </p:txBody>
      </p:sp>
      <p:sp>
        <p:nvSpPr>
          <p:cNvPr id="202" name="Google Shape;202;p21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2662535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בסיסיים: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Integers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Floats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Booleans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(המיוצגים פנימית כמחרוזות).</a:t>
            </a:r>
            <a:endParaRPr lang="he-IL" noProof="0" dirty="0"/>
          </a:p>
        </p:txBody>
      </p:sp>
      <p:sp>
        <p:nvSpPr>
          <p:cNvPr id="204" name="Google Shape;204;p21"/>
          <p:cNvSpPr txBox="1"/>
          <p:nvPr/>
        </p:nvSpPr>
        <p:spPr>
          <a:xfrm>
            <a:off x="571500" y="3169146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Lists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רשימות הן מחרוזות המופרדות ברווחים (או בסוגריים מסולסלים).</a:t>
            </a:r>
            <a:endParaRPr lang="he-IL" noProof="0" dirty="0"/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3675757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Arrays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מערכים אסוציאטיביים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Hash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Maps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למיפוי מפתחות לערכים.</a:t>
            </a:r>
            <a:endParaRPr lang="he-IL" noProof="0" dirty="0"/>
          </a:p>
        </p:txBody>
      </p:sp>
      <p:sp>
        <p:nvSpPr>
          <p:cNvPr id="206" name="Google Shape;206;p21"/>
          <p:cNvSpPr txBox="1"/>
          <p:nvPr/>
        </p:nvSpPr>
        <p:spPr>
          <a:xfrm>
            <a:off x="571500" y="4182367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Dictionaries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מבנה נתונים מודרני (מגרסה 8.5) לניהול זוגות מפתח-ערך בתוך משתנה יחיד.</a:t>
            </a:r>
            <a:endParaRPr lang="he-IL" noProof="0" dirty="0"/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4688978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Tcl_Obj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המימוש הפנימי ב-C שמאפשר אופטימיזציה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Dual-porting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למחרוזת וערך בינארי.</a:t>
            </a:r>
            <a:endParaRPr lang="he-IL" noProof="0" dirty="0"/>
          </a:p>
        </p:txBody>
      </p:sp>
      <p:pic>
        <p:nvPicPr>
          <p:cNvPr id="208" name="Google Shape;20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75004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256656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76326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426987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4776488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750046"/>
            <a:ext cx="5334000" cy="1737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50046"/>
            <a:ext cx="5334000" cy="173712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מנגנון הטיפוסים</a:t>
            </a:r>
            <a:endParaRPr lang="he-IL" noProof="0" dirty="0"/>
          </a:p>
        </p:txBody>
      </p:sp>
      <p:sp>
        <p:nvSpPr>
          <p:cNvPr id="221" name="Google Shape;221;p22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571500" y="4772917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1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בהשוואה ל-</a:t>
            </a:r>
            <a:r>
              <a:rPr lang="he-IL" sz="1650" b="0" i="1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Java</a:t>
            </a:r>
            <a:r>
              <a:rPr lang="he-IL" sz="1650" b="0" i="1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 אין צורך בהצהרות כמו </a:t>
            </a:r>
            <a:r>
              <a:rPr lang="he-IL" sz="1650" b="0" i="1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int</a:t>
            </a:r>
            <a:r>
              <a:rPr lang="he-IL" sz="1650" b="0" i="1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x = 5</a:t>
            </a:r>
            <a:r>
              <a:rPr lang="he-IL" sz="1650" i="1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he-IL" sz="1650" b="0" i="1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ב-</a:t>
            </a:r>
            <a:r>
              <a:rPr lang="he-IL" sz="1650" b="0" i="1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Tcl</a:t>
            </a:r>
            <a:r>
              <a:rPr lang="he-IL" sz="1650" b="0" i="1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פשוט כותבים </a:t>
            </a:r>
            <a:r>
              <a:rPr lang="he-IL" sz="1650" b="0" i="1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set</a:t>
            </a:r>
            <a:r>
              <a:rPr lang="he-IL" sz="1650" b="0" i="1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x 5.</a:t>
            </a:r>
            <a:endParaRPr lang="he-IL" noProof="0" dirty="0"/>
          </a:p>
        </p:txBody>
      </p:sp>
      <p:sp>
        <p:nvSpPr>
          <p:cNvPr id="223" name="Google Shape;223;p22"/>
          <p:cNvSpPr txBox="1"/>
          <p:nvPr/>
        </p:nvSpPr>
        <p:spPr>
          <a:xfrm>
            <a:off x="6572250" y="3035796"/>
            <a:ext cx="50006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Dynamic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&amp;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Weak</a:t>
            </a:r>
            <a:endParaRPr lang="he-IL" noProof="0" dirty="0"/>
          </a:p>
        </p:txBody>
      </p:sp>
      <p:sp>
        <p:nvSpPr>
          <p:cNvPr id="224" name="Google Shape;224;p22"/>
          <p:cNvSpPr txBox="1"/>
          <p:nvPr/>
        </p:nvSpPr>
        <p:spPr>
          <a:xfrm>
            <a:off x="6572250" y="3531096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טיפוס המשתנה נקבע בזמן ריצה. השפה מבצעת המרות אוטומטיות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Implicit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casting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בין מספרים למחרוזות.</a:t>
            </a:r>
            <a:endParaRPr lang="he-IL" noProof="0" dirty="0"/>
          </a:p>
        </p:txBody>
      </p:sp>
      <p:sp>
        <p:nvSpPr>
          <p:cNvPr id="225" name="Google Shape;225;p22"/>
          <p:cNvSpPr txBox="1"/>
          <p:nvPr/>
        </p:nvSpPr>
        <p:spPr>
          <a:xfrm>
            <a:off x="857250" y="3035796"/>
            <a:ext cx="50006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Duck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Typing</a:t>
            </a:r>
            <a:endParaRPr lang="he-IL" noProof="0" dirty="0"/>
          </a:p>
        </p:txBody>
      </p:sp>
      <p:sp>
        <p:nvSpPr>
          <p:cNvPr id="226" name="Google Shape;226;p22"/>
          <p:cNvSpPr txBox="1"/>
          <p:nvPr/>
        </p:nvSpPr>
        <p:spPr>
          <a:xfrm>
            <a:off x="857250" y="3531096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אם זה נראה כמו רשימה ומתנהג כמו רשימה - זו רשימה. פקודות מנסות לפרש כל מחרוזת לפי המבנה המבוקש.</a:t>
            </a:r>
            <a:endParaRPr lang="he-IL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3099"/>
            <a:ext cx="5334000" cy="303192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מצביעים וניהול זיכרון</a:t>
            </a:r>
            <a:endParaRPr lang="he-IL" noProof="0" dirty="0"/>
          </a:p>
        </p:txBody>
      </p:sp>
      <p:sp>
        <p:nvSpPr>
          <p:cNvPr id="234" name="Google Shape;234;p23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6286500" y="2413099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אין מצביעים ישירים: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בדומה ל-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Python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 אין גישה ישירה לכתובות זיכרון.</a:t>
            </a:r>
            <a:endParaRPr lang="he-IL" noProof="0" dirty="0"/>
          </a:p>
        </p:txBody>
      </p:sp>
      <p:sp>
        <p:nvSpPr>
          <p:cNvPr id="236" name="Google Shape;236;p23"/>
          <p:cNvSpPr txBox="1"/>
          <p:nvPr/>
        </p:nvSpPr>
        <p:spPr>
          <a:xfrm>
            <a:off x="6286500" y="3254871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Aliasing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מיושם ע"י פקודת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upvar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המקשרת בין שמות משתנים ב-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Scopes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שונים.</a:t>
            </a:r>
            <a:endParaRPr lang="he-IL" noProof="0" dirty="0"/>
          </a:p>
        </p:txBody>
      </p:sp>
      <p:sp>
        <p:nvSpPr>
          <p:cNvPr id="237" name="Google Shape;237;p23"/>
          <p:cNvSpPr txBox="1"/>
          <p:nvPr/>
        </p:nvSpPr>
        <p:spPr>
          <a:xfrm>
            <a:off x="6286500" y="4096642"/>
            <a:ext cx="50007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Copy-on-Write</a:t>
            </a:r>
            <a:r>
              <a:rPr lang="he-IL" sz="1650" b="1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- </a:t>
            </a:r>
            <a:r>
              <a:rPr lang="he-IL" sz="1650" b="1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Cow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אובייקטים גדולים מועברים כהפניות, ומשוכפלים רק בעת שינוי.</a:t>
            </a:r>
            <a:endParaRPr lang="he-IL" noProof="0" dirty="0"/>
          </a:p>
        </p:txBody>
      </p:sp>
      <p:sp>
        <p:nvSpPr>
          <p:cNvPr id="238" name="Google Shape;238;p23"/>
          <p:cNvSpPr txBox="1"/>
          <p:nvPr/>
        </p:nvSpPr>
        <p:spPr>
          <a:xfrm>
            <a:off x="6286500" y="4938414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העברה "ערכית" למראית עין, אך יעילה מאוד מבחינת ביצועים.</a:t>
            </a:r>
            <a:endParaRPr lang="he-IL" noProof="0" dirty="0"/>
          </a:p>
        </p:txBody>
      </p:sp>
      <p:pic>
        <p:nvPicPr>
          <p:cNvPr id="239" name="Google Shape;23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250060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334238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418415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5025924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5900" y="1360175"/>
            <a:ext cx="4943925" cy="427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טווח הכרה (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Scope</a:t>
            </a: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)</a:t>
            </a:r>
            <a:endParaRPr lang="he-IL" noProof="0" dirty="0"/>
          </a:p>
        </p:txBody>
      </p:sp>
      <p:sp>
        <p:nvSpPr>
          <p:cNvPr id="250" name="Google Shape;250;p24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86050" y="2999482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2686050" y="4523482"/>
            <a:ext cx="142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Lexical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Scope</a:t>
            </a:r>
            <a:endParaRPr lang="he-IL" noProof="0" dirty="0"/>
          </a:p>
        </p:txBody>
      </p:sp>
      <p:sp>
        <p:nvSpPr>
          <p:cNvPr id="253" name="Google Shape;253;p24"/>
          <p:cNvSpPr txBox="1"/>
          <p:nvPr/>
        </p:nvSpPr>
        <p:spPr>
          <a:xfrm>
            <a:off x="4686300" y="2915840"/>
            <a:ext cx="6600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Static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/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Lexical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Scope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כברירת מחדל, משתנים בתוך פרוצדורה הם מקומיים.</a:t>
            </a:r>
            <a:endParaRPr lang="he-IL" noProof="0" dirty="0"/>
          </a:p>
        </p:txBody>
      </p:sp>
      <p:sp>
        <p:nvSpPr>
          <p:cNvPr id="254" name="Google Shape;254;p24"/>
          <p:cNvSpPr txBox="1"/>
          <p:nvPr/>
        </p:nvSpPr>
        <p:spPr>
          <a:xfrm>
            <a:off x="4686300" y="3422451"/>
            <a:ext cx="6600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Namespaces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מאפשרים בידוד של משתנים ופונקציות ברמת המודול.</a:t>
            </a:r>
            <a:endParaRPr lang="he-IL" noProof="0" dirty="0"/>
          </a:p>
        </p:txBody>
      </p:sp>
      <p:sp>
        <p:nvSpPr>
          <p:cNvPr id="255" name="Google Shape;255;p24"/>
          <p:cNvSpPr txBox="1"/>
          <p:nvPr/>
        </p:nvSpPr>
        <p:spPr>
          <a:xfrm>
            <a:off x="4686300" y="3929062"/>
            <a:ext cx="6600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upvar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&amp; 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uplevel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מאפשרים גישה ל-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Scope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של הפונקציה הקוראת (דינמיות נשלטת).</a:t>
            </a:r>
            <a:endParaRPr lang="he-IL" noProof="0" dirty="0"/>
          </a:p>
        </p:txBody>
      </p:sp>
      <p:sp>
        <p:nvSpPr>
          <p:cNvPr id="256" name="Google Shape;256;p24"/>
          <p:cNvSpPr txBox="1"/>
          <p:nvPr/>
        </p:nvSpPr>
        <p:spPr>
          <a:xfrm>
            <a:off x="4686300" y="4435673"/>
            <a:ext cx="6600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אין פונקציות מקוננות קלאסיות (כמו ב-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JavaScript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), אך ניתן לדמותן דרך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Namespaces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noProof="0" dirty="0"/>
          </a:p>
        </p:txBody>
      </p:sp>
      <p:pic>
        <p:nvPicPr>
          <p:cNvPr id="257" name="Google Shape;25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53622" y="300364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53622" y="351026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53622" y="401687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53622" y="4523482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239250" y="2738437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Garbage</a:t>
            </a: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Collection</a:t>
            </a:r>
            <a:endParaRPr lang="he-IL" noProof="0" dirty="0"/>
          </a:p>
        </p:txBody>
      </p:sp>
      <p:sp>
        <p:nvSpPr>
          <p:cNvPr id="268" name="Google Shape;268;p25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 txBox="1"/>
          <p:nvPr/>
        </p:nvSpPr>
        <p:spPr>
          <a:xfrm>
            <a:off x="571500" y="2668190"/>
            <a:ext cx="560070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Reference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Counting</a:t>
            </a:r>
            <a:endParaRPr lang="he-IL" noProof="0" dirty="0"/>
          </a:p>
        </p:txBody>
      </p:sp>
      <p:sp>
        <p:nvSpPr>
          <p:cNvPr id="270" name="Google Shape;270;p25"/>
          <p:cNvSpPr txBox="1"/>
          <p:nvPr/>
        </p:nvSpPr>
        <p:spPr>
          <a:xfrm>
            <a:off x="571500" y="3163490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Tcl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משתמשת בספירת הפניות דטרמיניסטית לניהול הזיכרון.</a:t>
            </a:r>
            <a:endParaRPr lang="he-IL" noProof="0" dirty="0"/>
          </a:p>
        </p:txBody>
      </p:sp>
      <p:sp>
        <p:nvSpPr>
          <p:cNvPr id="271" name="Google Shape;271;p25"/>
          <p:cNvSpPr txBox="1"/>
          <p:nvPr/>
        </p:nvSpPr>
        <p:spPr>
          <a:xfrm>
            <a:off x="571500" y="3670101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כל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Tcl_Obj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מחזיק מונה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refCount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).</a:t>
            </a:r>
            <a:endParaRPr lang="he-IL" noProof="0" dirty="0"/>
          </a:p>
        </p:txBody>
      </p:sp>
      <p:sp>
        <p:nvSpPr>
          <p:cNvPr id="272" name="Google Shape;272;p25"/>
          <p:cNvSpPr txBox="1"/>
          <p:nvPr/>
        </p:nvSpPr>
        <p:spPr>
          <a:xfrm>
            <a:off x="571500" y="4176712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כשערך המונה מגיע ל-0, הזיכרון משוחרר מיידית.</a:t>
            </a:r>
            <a:endParaRPr lang="he-IL" noProof="0" dirty="0"/>
          </a:p>
        </p:txBody>
      </p:sp>
      <p:sp>
        <p:nvSpPr>
          <p:cNvPr id="273" name="Google Shape;273;p25"/>
          <p:cNvSpPr txBox="1"/>
          <p:nvPr/>
        </p:nvSpPr>
        <p:spPr>
          <a:xfrm>
            <a:off x="571500" y="4683323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אין עצירות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Pauses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של ה-GC כמו ב-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Java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או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Python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noProof="0" dirty="0"/>
          </a:p>
        </p:txBody>
      </p:sp>
      <p:pic>
        <p:nvPicPr>
          <p:cNvPr id="274" name="Google Shape;27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86437" y="325100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86437" y="375761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86437" y="426422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86437" y="4770833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6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פונקציות וביצועים</a:t>
            </a:r>
            <a:endParaRPr lang="he-IL" noProof="0" dirty="0"/>
          </a:p>
        </p:txBody>
      </p:sp>
      <p:sp>
        <p:nvSpPr>
          <p:cNvPr id="284" name="Google Shape;284;p26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 txBox="1"/>
          <p:nvPr/>
        </p:nvSpPr>
        <p:spPr>
          <a:xfrm>
            <a:off x="7305675" y="2580679"/>
            <a:ext cx="3981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הגדרה בעזרת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proc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noProof="0" dirty="0"/>
          </a:p>
        </p:txBody>
      </p:sp>
      <p:sp>
        <p:nvSpPr>
          <p:cNvPr id="286" name="Google Shape;286;p26"/>
          <p:cNvSpPr txBox="1"/>
          <p:nvPr/>
        </p:nvSpPr>
        <p:spPr>
          <a:xfrm>
            <a:off x="7305675" y="3087290"/>
            <a:ext cx="3981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Tail-call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פקודת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tailcall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מאפשרת רקורסיה בזיכרון קבוע (</a:t>
            </a:r>
            <a:r>
              <a:rPr lang="he-IL" sz="165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1)O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noProof="0" dirty="0"/>
          </a:p>
        </p:txBody>
      </p:sp>
      <p:sp>
        <p:nvSpPr>
          <p:cNvPr id="287" name="Google Shape;287;p26"/>
          <p:cNvSpPr txBox="1"/>
          <p:nvPr/>
        </p:nvSpPr>
        <p:spPr>
          <a:xfrm>
            <a:off x="7305675" y="3929062"/>
            <a:ext cx="3981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First-class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functions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שמות פונקציות מועברים כמחרוזות ומופעלים דינמית.</a:t>
            </a:r>
            <a:endParaRPr lang="he-IL" noProof="0" dirty="0"/>
          </a:p>
        </p:txBody>
      </p:sp>
      <p:sp>
        <p:nvSpPr>
          <p:cNvPr id="288" name="Google Shape;288;p26"/>
          <p:cNvSpPr txBox="1"/>
          <p:nvPr/>
        </p:nvSpPr>
        <p:spPr>
          <a:xfrm>
            <a:off x="7305675" y="4770834"/>
            <a:ext cx="3981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תמיכה ב-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Lambda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דרך פקודת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apply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noProof="0" dirty="0"/>
          </a:p>
        </p:txBody>
      </p:sp>
      <p:pic>
        <p:nvPicPr>
          <p:cNvPr id="289" name="Google Shape;28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66818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17480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401657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4858344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13DED9B8-9C0C-1106-1338-75E39FFFD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02" y="1411044"/>
            <a:ext cx="7114501" cy="40228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27"/>
          <p:cNvGrpSpPr/>
          <p:nvPr/>
        </p:nvGrpSpPr>
        <p:grpSpPr>
          <a:xfrm>
            <a:off x="28575" y="571500"/>
            <a:ext cx="11592075" cy="619200"/>
            <a:chOff x="28575" y="571500"/>
            <a:chExt cx="11592075" cy="619200"/>
          </a:xfrm>
        </p:grpSpPr>
        <p:sp>
          <p:nvSpPr>
            <p:cNvPr id="300" name="Google Shape;300;p27"/>
            <p:cNvSpPr/>
            <p:nvPr/>
          </p:nvSpPr>
          <p:spPr>
            <a:xfrm>
              <a:off x="28575" y="571500"/>
              <a:ext cx="114015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301" name="Google Shape;301;p27"/>
            <p:cNvSpPr txBox="1"/>
            <p:nvPr/>
          </p:nvSpPr>
          <p:spPr>
            <a:xfrm>
              <a:off x="28575" y="571500"/>
              <a:ext cx="11401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3300" b="1" noProof="0" dirty="0" err="1">
                  <a:solidFill>
                    <a:srgbClr val="003366"/>
                  </a:solidFill>
                  <a:latin typeface="Heebo"/>
                  <a:ea typeface="Heebo"/>
                  <a:cs typeface="Heebo"/>
                  <a:sym typeface="Heebo"/>
                </a:rPr>
                <a:t>Tcl</a:t>
              </a:r>
              <a:r>
                <a:rPr lang="he-IL" sz="3300" b="1" noProof="0" dirty="0">
                  <a:solidFill>
                    <a:srgbClr val="003366"/>
                  </a:solidFill>
                  <a:latin typeface="Heebo"/>
                  <a:ea typeface="Heebo"/>
                  <a:cs typeface="Heebo"/>
                  <a:sym typeface="Heebo"/>
                </a:rPr>
                <a:t> בהשוואה לשפות </a:t>
              </a:r>
              <a:r>
                <a:rPr lang="he-IL" sz="3300" b="1" noProof="0" dirty="0" err="1">
                  <a:solidFill>
                    <a:srgbClr val="003366"/>
                  </a:solidFill>
                  <a:latin typeface="Heebo"/>
                  <a:ea typeface="Heebo"/>
                  <a:cs typeface="Heebo"/>
                  <a:sym typeface="Heebo"/>
                </a:rPr>
                <a:t>סקריפטינג</a:t>
              </a:r>
              <a:r>
                <a:rPr lang="he-IL" sz="3300" b="1" noProof="0" dirty="0">
                  <a:solidFill>
                    <a:srgbClr val="003366"/>
                  </a:solidFill>
                  <a:latin typeface="Heebo"/>
                  <a:ea typeface="Heebo"/>
                  <a:cs typeface="Heebo"/>
                  <a:sym typeface="Heebo"/>
                </a:rPr>
                <a:t> אחרות</a:t>
              </a:r>
            </a:p>
          </p:txBody>
        </p:sp>
        <p:sp>
          <p:nvSpPr>
            <p:cNvPr id="302" name="Google Shape;302;p27"/>
            <p:cNvSpPr/>
            <p:nvPr/>
          </p:nvSpPr>
          <p:spPr>
            <a:xfrm>
              <a:off x="11563350" y="571500"/>
              <a:ext cx="57300" cy="6192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</p:grpSp>
      <p:grpSp>
        <p:nvGrpSpPr>
          <p:cNvPr id="303" name="Google Shape;303;p27"/>
          <p:cNvGrpSpPr/>
          <p:nvPr/>
        </p:nvGrpSpPr>
        <p:grpSpPr>
          <a:xfrm>
            <a:off x="571500" y="1714500"/>
            <a:ext cx="11049000" cy="571500"/>
            <a:chOff x="571500" y="1714500"/>
            <a:chExt cx="11049000" cy="571500"/>
          </a:xfrm>
        </p:grpSpPr>
        <p:sp>
          <p:nvSpPr>
            <p:cNvPr id="304" name="Google Shape;304;p27"/>
            <p:cNvSpPr/>
            <p:nvPr/>
          </p:nvSpPr>
          <p:spPr>
            <a:xfrm>
              <a:off x="571500" y="1714500"/>
              <a:ext cx="11049000" cy="571500"/>
            </a:xfrm>
            <a:prstGeom prst="roundRect">
              <a:avLst>
                <a:gd name="adj" fmla="val 13333"/>
              </a:avLst>
            </a:prstGeom>
            <a:solidFill>
              <a:srgbClr val="00336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305" name="Google Shape;305;p27"/>
            <p:cNvSpPr txBox="1"/>
            <p:nvPr/>
          </p:nvSpPr>
          <p:spPr>
            <a:xfrm>
              <a:off x="2667000" y="171450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800" b="1" noProof="0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Tcl</a:t>
              </a:r>
              <a:endParaRPr lang="he-IL" sz="1800" b="1" noProof="0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06" name="Google Shape;306;p27"/>
            <p:cNvSpPr txBox="1"/>
            <p:nvPr/>
          </p:nvSpPr>
          <p:spPr>
            <a:xfrm>
              <a:off x="5810250" y="171450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800" b="1" noProof="0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Python</a:t>
              </a:r>
              <a:endParaRPr lang="he-IL" sz="1800" b="1" noProof="0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07" name="Google Shape;307;p27"/>
            <p:cNvSpPr txBox="1"/>
            <p:nvPr/>
          </p:nvSpPr>
          <p:spPr>
            <a:xfrm>
              <a:off x="8953500" y="171450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800" b="1" noProof="0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JavaScript</a:t>
              </a:r>
              <a:r>
                <a:rPr lang="he-IL" sz="1800" b="1" noProof="0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</a:p>
          </p:txBody>
        </p:sp>
      </p:grpSp>
      <p:grpSp>
        <p:nvGrpSpPr>
          <p:cNvPr id="308" name="Google Shape;308;p27"/>
          <p:cNvGrpSpPr/>
          <p:nvPr/>
        </p:nvGrpSpPr>
        <p:grpSpPr>
          <a:xfrm>
            <a:off x="571500" y="2381250"/>
            <a:ext cx="11049000" cy="762000"/>
            <a:chOff x="571500" y="2381250"/>
            <a:chExt cx="11049000" cy="762000"/>
          </a:xfrm>
        </p:grpSpPr>
        <p:sp>
          <p:nvSpPr>
            <p:cNvPr id="309" name="Google Shape;309;p27"/>
            <p:cNvSpPr/>
            <p:nvPr/>
          </p:nvSpPr>
          <p:spPr>
            <a:xfrm>
              <a:off x="571500" y="238125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310" name="Google Shape;310;p27"/>
            <p:cNvSpPr txBox="1"/>
            <p:nvPr/>
          </p:nvSpPr>
          <p:spPr>
            <a:xfrm>
              <a:off x="762000" y="2381250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6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מנגנון טיפוסים</a:t>
              </a:r>
            </a:p>
          </p:txBody>
        </p:sp>
        <p:sp>
          <p:nvSpPr>
            <p:cNvPr id="311" name="Google Shape;311;p27"/>
            <p:cNvSpPr txBox="1"/>
            <p:nvPr/>
          </p:nvSpPr>
          <p:spPr>
            <a:xfrm>
              <a:off x="2667000" y="238125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Weak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&amp; </a:t>
              </a: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Dynamic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12" name="Google Shape;312;p27"/>
            <p:cNvSpPr txBox="1"/>
            <p:nvPr/>
          </p:nvSpPr>
          <p:spPr>
            <a:xfrm>
              <a:off x="5810250" y="238125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Strong</a:t>
              </a:r>
              <a:r>
                <a:rPr lang="he-IL" sz="15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&amp; </a:t>
              </a:r>
              <a:r>
                <a:rPr lang="he-IL" sz="15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Dynamic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13" name="Google Shape;313;p27"/>
            <p:cNvSpPr txBox="1"/>
            <p:nvPr/>
          </p:nvSpPr>
          <p:spPr>
            <a:xfrm>
              <a:off x="8953500" y="2381250"/>
              <a:ext cx="238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Weak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&amp; </a:t>
              </a: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Dynamic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14" name="Google Shape;314;p27"/>
          <p:cNvGrpSpPr/>
          <p:nvPr/>
        </p:nvGrpSpPr>
        <p:grpSpPr>
          <a:xfrm>
            <a:off x="571500" y="3238500"/>
            <a:ext cx="11049000" cy="762000"/>
            <a:chOff x="571500" y="3238500"/>
            <a:chExt cx="11049000" cy="762000"/>
          </a:xfrm>
        </p:grpSpPr>
        <p:sp>
          <p:nvSpPr>
            <p:cNvPr id="315" name="Google Shape;315;p27"/>
            <p:cNvSpPr/>
            <p:nvPr/>
          </p:nvSpPr>
          <p:spPr>
            <a:xfrm>
              <a:off x="571500" y="323850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316" name="Google Shape;316;p27"/>
            <p:cNvSpPr txBox="1"/>
            <p:nvPr/>
          </p:nvSpPr>
          <p:spPr>
            <a:xfrm>
              <a:off x="762000" y="3238500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6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תחביר (</a:t>
              </a:r>
              <a:r>
                <a:rPr lang="he-IL" sz="1600" b="1" noProof="0" dirty="0" err="1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Notation</a:t>
              </a:r>
              <a:r>
                <a:rPr lang="he-IL" sz="16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)</a:t>
              </a:r>
            </a:p>
          </p:txBody>
        </p:sp>
        <p:sp>
          <p:nvSpPr>
            <p:cNvPr id="317" name="Google Shape;317;p27"/>
            <p:cNvSpPr txBox="1"/>
            <p:nvPr/>
          </p:nvSpPr>
          <p:spPr>
            <a:xfrm>
              <a:off x="2667000" y="323850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Prefix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- </a:t>
              </a:r>
              <a:r>
                <a:rPr lang="he-IL" sz="15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Command-Ar</a:t>
              </a: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g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18" name="Google Shape;318;p27"/>
            <p:cNvSpPr txBox="1"/>
            <p:nvPr/>
          </p:nvSpPr>
          <p:spPr>
            <a:xfrm>
              <a:off x="5810250" y="323850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מונחה עצמים מבוסס הזחות 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19" name="Google Shape;319;p27"/>
            <p:cNvSpPr txBox="1"/>
            <p:nvPr/>
          </p:nvSpPr>
          <p:spPr>
            <a:xfrm>
              <a:off x="8953500" y="3238500"/>
              <a:ext cx="238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lvl="0" algn="ctr"/>
              <a:r>
                <a:rPr lang="he-IL" sz="150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C-</a:t>
              </a:r>
              <a:r>
                <a:rPr lang="he-IL" sz="150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like</a:t>
              </a:r>
              <a:r>
                <a:rPr lang="he-IL" sz="150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/ </a:t>
              </a:r>
              <a:r>
                <a:rPr lang="he-IL" sz="150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Algol-like</a:t>
              </a:r>
              <a:r>
                <a:rPr lang="he-IL" sz="150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</a:p>
            <a:p>
              <a:pPr lvl="0" algn="ctr"/>
              <a:r>
                <a:rPr lang="he-IL" sz="150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(סוגריים מסולסלים)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20" name="Google Shape;320;p27"/>
          <p:cNvGrpSpPr/>
          <p:nvPr/>
        </p:nvGrpSpPr>
        <p:grpSpPr>
          <a:xfrm>
            <a:off x="571500" y="4095750"/>
            <a:ext cx="11049000" cy="762000"/>
            <a:chOff x="571500" y="4095750"/>
            <a:chExt cx="11049000" cy="762000"/>
          </a:xfrm>
        </p:grpSpPr>
        <p:sp>
          <p:nvSpPr>
            <p:cNvPr id="321" name="Google Shape;321;p27"/>
            <p:cNvSpPr/>
            <p:nvPr/>
          </p:nvSpPr>
          <p:spPr>
            <a:xfrm>
              <a:off x="571500" y="409575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322" name="Google Shape;322;p27"/>
            <p:cNvSpPr txBox="1"/>
            <p:nvPr/>
          </p:nvSpPr>
          <p:spPr>
            <a:xfrm>
              <a:off x="762000" y="4095750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6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ניהול זיכרון (GC)</a:t>
              </a:r>
            </a:p>
          </p:txBody>
        </p:sp>
        <p:sp>
          <p:nvSpPr>
            <p:cNvPr id="323" name="Google Shape;323;p27"/>
            <p:cNvSpPr txBox="1"/>
            <p:nvPr/>
          </p:nvSpPr>
          <p:spPr>
            <a:xfrm>
              <a:off x="2667000" y="409575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Reference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Counting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-מבוסס ספירת הפניות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24" name="Google Shape;324;p27"/>
            <p:cNvSpPr txBox="1"/>
            <p:nvPr/>
          </p:nvSpPr>
          <p:spPr>
            <a:xfrm>
              <a:off x="5810250" y="409575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Tracing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GC + </a:t>
              </a: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Reference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Counting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25" name="Google Shape;325;p27"/>
            <p:cNvSpPr txBox="1"/>
            <p:nvPr/>
          </p:nvSpPr>
          <p:spPr>
            <a:xfrm>
              <a:off x="8953500" y="4095750"/>
              <a:ext cx="238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Tracing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GC 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)</a:t>
              </a: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Mark-and-Sweep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(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26" name="Google Shape;326;p27"/>
          <p:cNvGrpSpPr/>
          <p:nvPr/>
        </p:nvGrpSpPr>
        <p:grpSpPr>
          <a:xfrm>
            <a:off x="571500" y="4953000"/>
            <a:ext cx="11049000" cy="762000"/>
            <a:chOff x="571500" y="4953000"/>
            <a:chExt cx="11049000" cy="762000"/>
          </a:xfrm>
        </p:grpSpPr>
        <p:sp>
          <p:nvSpPr>
            <p:cNvPr id="327" name="Google Shape;327;p27"/>
            <p:cNvSpPr/>
            <p:nvPr/>
          </p:nvSpPr>
          <p:spPr>
            <a:xfrm>
              <a:off x="571500" y="495300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328" name="Google Shape;328;p27"/>
            <p:cNvSpPr txBox="1"/>
            <p:nvPr/>
          </p:nvSpPr>
          <p:spPr>
            <a:xfrm>
              <a:off x="762000" y="4953000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6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קהילה ושימוש</a:t>
              </a:r>
            </a:p>
          </p:txBody>
        </p:sp>
        <p:sp>
          <p:nvSpPr>
            <p:cNvPr id="329" name="Google Shape;329;p27"/>
            <p:cNvSpPr txBox="1"/>
            <p:nvPr/>
          </p:nvSpPr>
          <p:spPr>
            <a:xfrm>
              <a:off x="2667000" y="495300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נישה (EDA, בדיקות חומרה, נתבי </a:t>
              </a: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Cisco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) 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30" name="Google Shape;330;p27"/>
            <p:cNvSpPr txBox="1"/>
            <p:nvPr/>
          </p:nvSpPr>
          <p:spPr>
            <a:xfrm>
              <a:off x="5810250" y="495300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עצומה (</a:t>
              </a:r>
              <a:r>
                <a:rPr lang="he-IL" sz="15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Data</a:t>
              </a:r>
              <a:r>
                <a:rPr lang="he-IL" sz="15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he-IL" sz="15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Science</a:t>
              </a:r>
              <a:r>
                <a:rPr lang="he-IL" sz="15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, </a:t>
              </a:r>
              <a:r>
                <a:rPr lang="he-IL" sz="15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Web</a:t>
              </a:r>
              <a:r>
                <a:rPr lang="he-IL" sz="15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, AI)</a:t>
              </a:r>
            </a:p>
          </p:txBody>
        </p:sp>
        <p:sp>
          <p:nvSpPr>
            <p:cNvPr id="331" name="Google Shape;331;p27"/>
            <p:cNvSpPr txBox="1"/>
            <p:nvPr/>
          </p:nvSpPr>
          <p:spPr>
            <a:xfrm>
              <a:off x="8953500" y="4953000"/>
              <a:ext cx="238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עצומה ( </a:t>
              </a:r>
              <a:r>
                <a:rPr lang="he-IL" sz="15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Fullstack</a:t>
              </a:r>
              <a:r>
                <a:rPr lang="he-IL" sz="15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/ Node.js) </a:t>
              </a:r>
              <a:endParaRPr lang="he-IL" sz="15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8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העברת פרמטרים</a:t>
            </a:r>
            <a:endParaRPr lang="he-IL" noProof="0" dirty="0"/>
          </a:p>
        </p:txBody>
      </p:sp>
      <p:sp>
        <p:nvSpPr>
          <p:cNvPr id="338" name="Google Shape;338;p28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8"/>
          <p:cNvSpPr txBox="1"/>
          <p:nvPr/>
        </p:nvSpPr>
        <p:spPr>
          <a:xfrm>
            <a:off x="571500" y="2915840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call-by-value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ברירת המחדל. מועבר העתק (בפועל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CoW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יעיל).</a:t>
            </a:r>
            <a:endParaRPr lang="he-IL" noProof="0" dirty="0"/>
          </a:p>
        </p:txBody>
      </p:sp>
      <p:sp>
        <p:nvSpPr>
          <p:cNvPr id="340" name="Google Shape;340;p28"/>
          <p:cNvSpPr txBox="1"/>
          <p:nvPr/>
        </p:nvSpPr>
        <p:spPr>
          <a:xfrm>
            <a:off x="571500" y="3422451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call-by-reference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סימולציה בעזרת העברת 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שם המשתנה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ושימוש ב-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upvar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noProof="0" dirty="0"/>
          </a:p>
        </p:txBody>
      </p:sp>
      <p:sp>
        <p:nvSpPr>
          <p:cNvPr id="341" name="Google Shape;341;p28"/>
          <p:cNvSpPr txBox="1"/>
          <p:nvPr/>
        </p:nvSpPr>
        <p:spPr>
          <a:xfrm>
            <a:off x="571500" y="3929062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In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/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Out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Model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פונקציה יכולה לשנות משתנה של הקורא ע"י קישור השם שלו.</a:t>
            </a:r>
            <a:endParaRPr lang="he-IL" noProof="0" dirty="0"/>
          </a:p>
        </p:txBody>
      </p:sp>
      <p:sp>
        <p:nvSpPr>
          <p:cNvPr id="342" name="Google Shape;342;p28"/>
          <p:cNvSpPr txBox="1"/>
          <p:nvPr/>
        </p:nvSpPr>
        <p:spPr>
          <a:xfrm>
            <a:off x="571500" y="4435673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בשונה מ-C, אין סכנה של מצביע לא חוקי</a:t>
            </a:r>
            <a:r>
              <a:rPr lang="he-IL" sz="165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אם המשתנה לא קיים, הוא נוצר.</a:t>
            </a:r>
            <a:endParaRPr lang="he-IL" noProof="0" dirty="0"/>
          </a:p>
        </p:txBody>
      </p:sp>
      <p:pic>
        <p:nvPicPr>
          <p:cNvPr id="343" name="Google Shape;343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91912" y="300335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91912" y="350996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91912" y="401657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91912" y="4523183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9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סדר פרמטרים</a:t>
            </a:r>
            <a:endParaRPr lang="he-IL" noProof="0" dirty="0"/>
          </a:p>
        </p:txBody>
      </p:sp>
      <p:sp>
        <p:nvSpPr>
          <p:cNvPr id="353" name="Google Shape;353;p29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4" name="Google Shape;354;p29"/>
          <p:cNvGraphicFramePr/>
          <p:nvPr>
            <p:extLst>
              <p:ext uri="{D42A27DB-BD31-4B8C-83A1-F6EECF244321}">
                <p14:modId xmlns:p14="http://schemas.microsoft.com/office/powerpoint/2010/main" val="4210422602"/>
              </p:ext>
            </p:extLst>
          </p:nvPr>
        </p:nvGraphicFramePr>
        <p:xfrm>
          <a:off x="571500" y="2900362"/>
          <a:ext cx="11049025" cy="2057400"/>
        </p:xfrm>
        <a:graphic>
          <a:graphicData uri="http://schemas.openxmlformats.org/drawingml/2006/table">
            <a:tbl>
              <a:tblPr firstRow="1" bandRow="1">
                <a:noFill/>
                <a:tableStyleId>{C818A2C4-7DA0-4F76-A5B3-8B96248F8CAC}</a:tableStyleId>
              </a:tblPr>
              <a:tblGrid>
                <a:gridCol w="27934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44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0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200" b="1" i="0" u="none" strike="noStrike" cap="none" noProof="0" dirty="0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סוג העברה</a:t>
                      </a:r>
                      <a:endParaRPr lang="he-I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200" b="1" i="0" u="none" strike="noStrike" cap="none" noProof="0" dirty="0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תיאור</a:t>
                      </a:r>
                      <a:endParaRPr lang="he-I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200" b="1" i="0" u="none" strike="noStrike" cap="none" noProof="0" dirty="0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דוגמה</a:t>
                      </a:r>
                      <a:endParaRPr lang="he-I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2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By</a:t>
                      </a:r>
                      <a:r>
                        <a:rPr lang="he-IL" sz="12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 </a:t>
                      </a:r>
                      <a:r>
                        <a:rPr lang="he-IL" sz="12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Position</a:t>
                      </a:r>
                      <a:endParaRPr lang="he-I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2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התאמה לפי סדר המופע</a:t>
                      </a:r>
                      <a:endParaRPr lang="he-I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2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myProc</a:t>
                      </a:r>
                      <a:r>
                        <a:rPr lang="he-IL" sz="12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 $a $b</a:t>
                      </a:r>
                      <a:endParaRPr lang="he-I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2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Default</a:t>
                      </a:r>
                      <a:r>
                        <a:rPr lang="he-IL" sz="12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 </a:t>
                      </a:r>
                      <a:r>
                        <a:rPr lang="he-IL" sz="12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Values</a:t>
                      </a:r>
                      <a:endParaRPr lang="he-I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2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ערך ברירת מחדל לפרמטרים אופציונליים</a:t>
                      </a:r>
                      <a:endParaRPr lang="he-I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pl-PL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ssistant" pitchFamily="2" charset="-79"/>
                          <a:ea typeface="Calibri"/>
                          <a:cs typeface="Assistant" pitchFamily="2" charset="-79"/>
                          <a:sym typeface="Arial"/>
                        </a:rPr>
                        <a:t>proc p {a {b 10}}</a:t>
                      </a:r>
                      <a:endParaRPr lang="pl-PL" sz="1200" b="0" dirty="0">
                        <a:effectLst/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2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Variadic</a:t>
                      </a:r>
                      <a:r>
                        <a:rPr lang="he-IL" sz="12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 (</a:t>
                      </a:r>
                      <a:r>
                        <a:rPr lang="he-IL" sz="12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args</a:t>
                      </a:r>
                      <a:r>
                        <a:rPr lang="he-IL" sz="12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)</a:t>
                      </a:r>
                      <a:endParaRPr lang="he-I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2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קליטת מספר לא ידוע של פרמטרים</a:t>
                      </a:r>
                      <a:endParaRPr lang="he-I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2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proc</a:t>
                      </a:r>
                      <a:r>
                        <a:rPr lang="he-IL" sz="12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 p {</a:t>
                      </a:r>
                      <a:r>
                        <a:rPr lang="he-IL" sz="12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args</a:t>
                      </a:r>
                      <a:r>
                        <a:rPr lang="he-IL" sz="12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}</a:t>
                      </a:r>
                      <a:endParaRPr lang="he-IL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5" name="Google Shape;355;p29"/>
          <p:cNvSpPr/>
          <p:nvPr/>
        </p:nvSpPr>
        <p:spPr>
          <a:xfrm>
            <a:off x="9504759" y="3895725"/>
            <a:ext cx="211574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9"/>
          <p:cNvSpPr/>
          <p:nvPr/>
        </p:nvSpPr>
        <p:spPr>
          <a:xfrm>
            <a:off x="4887069" y="3895725"/>
            <a:ext cx="461769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9"/>
          <p:cNvSpPr/>
          <p:nvPr/>
        </p:nvSpPr>
        <p:spPr>
          <a:xfrm>
            <a:off x="571500" y="3895725"/>
            <a:ext cx="43155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9"/>
          <p:cNvSpPr/>
          <p:nvPr/>
        </p:nvSpPr>
        <p:spPr>
          <a:xfrm>
            <a:off x="9504759" y="4419600"/>
            <a:ext cx="211574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9"/>
          <p:cNvSpPr/>
          <p:nvPr/>
        </p:nvSpPr>
        <p:spPr>
          <a:xfrm>
            <a:off x="4887069" y="4419600"/>
            <a:ext cx="461769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571500" y="4419600"/>
            <a:ext cx="43155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9"/>
          <p:cNvSpPr/>
          <p:nvPr/>
        </p:nvSpPr>
        <p:spPr>
          <a:xfrm>
            <a:off x="9504759" y="4943475"/>
            <a:ext cx="211574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4887069" y="4943475"/>
            <a:ext cx="461769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571500" y="4943475"/>
            <a:ext cx="43155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559546"/>
            <a:ext cx="3492549" cy="2739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559546"/>
            <a:ext cx="3492549" cy="2739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351" y="2559546"/>
            <a:ext cx="3492549" cy="2739032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0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הפשטה (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Abstraction</a:t>
            </a: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)</a:t>
            </a:r>
            <a:endParaRPr lang="he-IL" noProof="0" dirty="0"/>
          </a:p>
        </p:txBody>
      </p:sp>
      <p:sp>
        <p:nvSpPr>
          <p:cNvPr id="373" name="Google Shape;373;p30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16975" y="2854821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0"/>
          <p:cNvSpPr txBox="1"/>
          <p:nvPr/>
        </p:nvSpPr>
        <p:spPr>
          <a:xfrm>
            <a:off x="8350675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Namespaces</a:t>
            </a:r>
            <a:endParaRPr lang="he-IL" noProof="0" dirty="0"/>
          </a:p>
        </p:txBody>
      </p:sp>
      <p:sp>
        <p:nvSpPr>
          <p:cNvPr id="376" name="Google Shape;376;p30"/>
          <p:cNvSpPr txBox="1"/>
          <p:nvPr/>
        </p:nvSpPr>
        <p:spPr>
          <a:xfrm>
            <a:off x="8423225" y="3997821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בידוד קוד ומשתנים. מניעת התנגשויות בשמות פונקציות.</a:t>
            </a:r>
            <a:endParaRPr lang="he-IL" noProof="0" dirty="0"/>
          </a:p>
        </p:txBody>
      </p:sp>
      <p:pic>
        <p:nvPicPr>
          <p:cNvPr id="377" name="Google Shape;377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101" y="2854821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0"/>
          <p:cNvSpPr txBox="1"/>
          <p:nvPr/>
        </p:nvSpPr>
        <p:spPr>
          <a:xfrm>
            <a:off x="4572375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Packages</a:t>
            </a:r>
            <a:endParaRPr lang="he-IL" noProof="0" dirty="0"/>
          </a:p>
        </p:txBody>
      </p:sp>
      <p:sp>
        <p:nvSpPr>
          <p:cNvPr id="379" name="Google Shape;379;p30"/>
          <p:cNvSpPr txBox="1"/>
          <p:nvPr/>
        </p:nvSpPr>
        <p:spPr>
          <a:xfrm>
            <a:off x="4644925" y="3997821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מנגנון להפצת ספריות קוד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package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provide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/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require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).</a:t>
            </a:r>
            <a:endParaRPr lang="he-IL" noProof="0" dirty="0"/>
          </a:p>
        </p:txBody>
      </p:sp>
      <p:pic>
        <p:nvPicPr>
          <p:cNvPr id="380" name="Google Shape;380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31801" y="2854821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0"/>
          <p:cNvSpPr txBox="1"/>
          <p:nvPr/>
        </p:nvSpPr>
        <p:spPr>
          <a:xfrm>
            <a:off x="794076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Information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Hiding</a:t>
            </a:r>
            <a:endParaRPr lang="he-IL" noProof="0" dirty="0"/>
          </a:p>
        </p:txBody>
      </p:sp>
      <p:sp>
        <p:nvSpPr>
          <p:cNvPr id="382" name="Google Shape;382;p30"/>
          <p:cNvSpPr txBox="1"/>
          <p:nvPr/>
        </p:nvSpPr>
        <p:spPr>
          <a:xfrm>
            <a:off x="866626" y="3997821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חשיפה מבוקרת של API מתוך מרחבי השמות.</a:t>
            </a:r>
            <a:endParaRPr lang="he-IL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1"/>
          <p:cNvSpPr txBox="1"/>
          <p:nvPr/>
        </p:nvSpPr>
        <p:spPr>
          <a:xfrm>
            <a:off x="6429375" y="571500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OOP ב </a:t>
            </a:r>
            <a:r>
              <a:rPr lang="he-IL" sz="3300" b="1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- 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TclOO</a:t>
            </a:r>
            <a:endParaRPr lang="he-IL" noProof="0" dirty="0"/>
          </a:p>
        </p:txBody>
      </p:sp>
      <p:sp>
        <p:nvSpPr>
          <p:cNvPr id="389" name="Google Shape;389;p31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0" name="Google Shape;390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67300" y="0"/>
            <a:ext cx="10287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31"/>
          <p:cNvSpPr txBox="1"/>
          <p:nvPr/>
        </p:nvSpPr>
        <p:spPr>
          <a:xfrm>
            <a:off x="6667500" y="1571625"/>
            <a:ext cx="4619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Classes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&amp; 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Objects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תמיכה מלאה מגרסה 8.6.</a:t>
            </a:r>
            <a:endParaRPr lang="he-IL" noProof="0" dirty="0"/>
          </a:p>
        </p:txBody>
      </p:sp>
      <p:sp>
        <p:nvSpPr>
          <p:cNvPr id="392" name="Google Shape;392;p31"/>
          <p:cNvSpPr txBox="1"/>
          <p:nvPr/>
        </p:nvSpPr>
        <p:spPr>
          <a:xfrm>
            <a:off x="6667500" y="2078235"/>
            <a:ext cx="46196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Encapsulation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משתני מחלקה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variable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מוצפנים מהחוץ.</a:t>
            </a:r>
            <a:endParaRPr lang="he-IL" noProof="0" dirty="0"/>
          </a:p>
        </p:txBody>
      </p:sp>
      <p:sp>
        <p:nvSpPr>
          <p:cNvPr id="393" name="Google Shape;393;p31"/>
          <p:cNvSpPr txBox="1"/>
          <p:nvPr/>
        </p:nvSpPr>
        <p:spPr>
          <a:xfrm>
            <a:off x="6667500" y="2920007"/>
            <a:ext cx="46196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Constructors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הגדרה ע"י מילת המפתח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constructor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noProof="0" dirty="0"/>
          </a:p>
        </p:txBody>
      </p:sp>
      <p:pic>
        <p:nvPicPr>
          <p:cNvPr id="394" name="Google Shape;394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167272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217933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302110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4B8B0026-7B42-1F39-4EA9-F0FC558CB1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2332" y="3589249"/>
            <a:ext cx="8720108" cy="285417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797671"/>
            <a:ext cx="5334000" cy="1641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97671"/>
            <a:ext cx="5334000" cy="1641871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2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OOP: ירושה ופולימורפיזם</a:t>
            </a:r>
            <a:endParaRPr lang="he-IL" noProof="0" dirty="0"/>
          </a:p>
        </p:txBody>
      </p:sp>
      <p:sp>
        <p:nvSpPr>
          <p:cNvPr id="405" name="Google Shape;405;p32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2"/>
          <p:cNvSpPr txBox="1"/>
          <p:nvPr/>
        </p:nvSpPr>
        <p:spPr>
          <a:xfrm>
            <a:off x="571500" y="4725292"/>
            <a:ext cx="109061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פולימורפיזם: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מושג באופן טבעי דרך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Duck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Typing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ודריסת מתודות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Method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overriding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).</a:t>
            </a:r>
            <a:endParaRPr lang="he-IL" noProof="0" dirty="0"/>
          </a:p>
        </p:txBody>
      </p:sp>
      <p:sp>
        <p:nvSpPr>
          <p:cNvPr id="407" name="Google Shape;407;p32"/>
          <p:cNvSpPr/>
          <p:nvPr/>
        </p:nvSpPr>
        <p:spPr>
          <a:xfrm>
            <a:off x="11582400" y="4725292"/>
            <a:ext cx="38100" cy="335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2"/>
          <p:cNvSpPr txBox="1"/>
          <p:nvPr/>
        </p:nvSpPr>
        <p:spPr>
          <a:xfrm>
            <a:off x="6524625" y="3035796"/>
            <a:ext cx="510063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Inheritance</a:t>
            </a:r>
            <a:endParaRPr lang="he-IL" noProof="0" dirty="0"/>
          </a:p>
        </p:txBody>
      </p:sp>
      <p:sp>
        <p:nvSpPr>
          <p:cNvPr id="409" name="Google Shape;409;p32"/>
          <p:cNvSpPr txBox="1"/>
          <p:nvPr/>
        </p:nvSpPr>
        <p:spPr>
          <a:xfrm>
            <a:off x="6524625" y="3531096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תמיכה בירושה מרובה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Multiple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Inheritance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בעזרת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superclass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noProof="0" dirty="0"/>
          </a:p>
        </p:txBody>
      </p:sp>
      <p:sp>
        <p:nvSpPr>
          <p:cNvPr id="410" name="Google Shape;410;p32"/>
          <p:cNvSpPr txBox="1"/>
          <p:nvPr/>
        </p:nvSpPr>
        <p:spPr>
          <a:xfrm>
            <a:off x="809625" y="3035796"/>
            <a:ext cx="510063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Mixins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&amp;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Filters</a:t>
            </a:r>
            <a:endParaRPr lang="he-IL" noProof="0" dirty="0"/>
          </a:p>
        </p:txBody>
      </p:sp>
      <p:sp>
        <p:nvSpPr>
          <p:cNvPr id="411" name="Google Shape;411;p32"/>
          <p:cNvSpPr txBox="1"/>
          <p:nvPr/>
        </p:nvSpPr>
        <p:spPr>
          <a:xfrm>
            <a:off x="809625" y="3531096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מנגנונים מתקדמים להזרקת התנהגות דינמית לאובייקטים בזמן ריצה.</a:t>
            </a:r>
            <a:endParaRPr lang="he-IL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3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תחביר ודוגמאות קוד</a:t>
            </a:r>
            <a:endParaRPr lang="he-IL" noProof="0" dirty="0"/>
          </a:p>
        </p:txBody>
      </p:sp>
      <p:sp>
        <p:nvSpPr>
          <p:cNvPr id="418" name="Google Shape;418;p33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3"/>
          <p:cNvSpPr txBox="1"/>
          <p:nvPr/>
        </p:nvSpPr>
        <p:spPr>
          <a:xfrm>
            <a:off x="6286500" y="2709862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set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להשמה,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expr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לחישובים.</a:t>
            </a:r>
            <a:endParaRPr lang="he-IL" noProof="0" dirty="0"/>
          </a:p>
        </p:txBody>
      </p:sp>
      <p:sp>
        <p:nvSpPr>
          <p:cNvPr id="420" name="Google Shape;420;p33"/>
          <p:cNvSpPr txBox="1"/>
          <p:nvPr/>
        </p:nvSpPr>
        <p:spPr>
          <a:xfrm>
            <a:off x="6286500" y="3216473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לולאות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for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foreach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while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noProof="0" dirty="0"/>
          </a:p>
        </p:txBody>
      </p:sp>
      <p:sp>
        <p:nvSpPr>
          <p:cNvPr id="421" name="Google Shape;421;p33"/>
          <p:cNvSpPr txBox="1"/>
          <p:nvPr/>
        </p:nvSpPr>
        <p:spPr>
          <a:xfrm>
            <a:off x="6286500" y="3723084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הצבת ערכי משתנים בעזרת $.</a:t>
            </a:r>
            <a:endParaRPr lang="he-IL" noProof="0" dirty="0"/>
          </a:p>
        </p:txBody>
      </p:sp>
      <p:pic>
        <p:nvPicPr>
          <p:cNvPr id="422" name="Google Shape;422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79737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30398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810594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F42BD939-23B2-A184-8C28-FA040F7C4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319085"/>
            <a:ext cx="7552944" cy="298693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595562"/>
            <a:ext cx="5334000" cy="1546621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4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קבצים: קריאה וכתיבה</a:t>
            </a:r>
            <a:endParaRPr lang="he-IL" noProof="0" dirty="0"/>
          </a:p>
        </p:txBody>
      </p:sp>
      <p:sp>
        <p:nvSpPr>
          <p:cNvPr id="432" name="Google Shape;432;p34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4"/>
          <p:cNvSpPr txBox="1"/>
          <p:nvPr/>
        </p:nvSpPr>
        <p:spPr>
          <a:xfrm>
            <a:off x="6477000" y="2786062"/>
            <a:ext cx="520065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מנגנון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Channels</a:t>
            </a:r>
            <a:endParaRPr lang="he-IL" noProof="0" dirty="0"/>
          </a:p>
        </p:txBody>
      </p:sp>
      <p:sp>
        <p:nvSpPr>
          <p:cNvPr id="434" name="Google Shape;434;p34"/>
          <p:cNvSpPr txBox="1"/>
          <p:nvPr/>
        </p:nvSpPr>
        <p:spPr>
          <a:xfrm>
            <a:off x="6477000" y="3281362"/>
            <a:ext cx="49530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עבודה דרך ערוצים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File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Handles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המאפשרים קריאה חסומה או מונחית אירועים.</a:t>
            </a:r>
            <a:endParaRPr lang="he-IL" noProof="0"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A350B5F1-EF43-E493-B754-D19800D47F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090" y="2177715"/>
            <a:ext cx="5911260" cy="1773967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ED1864B0-4F60-DB85-9163-D453683436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772" y="3951682"/>
            <a:ext cx="5772956" cy="204816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5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מחרוזות: הכוח של 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Tcl</a:t>
            </a:r>
            <a:endParaRPr lang="he-IL" noProof="0" dirty="0"/>
          </a:p>
        </p:txBody>
      </p:sp>
      <p:sp>
        <p:nvSpPr>
          <p:cNvPr id="441" name="Google Shape;441;p35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5"/>
          <p:cNvSpPr txBox="1"/>
          <p:nvPr/>
        </p:nvSpPr>
        <p:spPr>
          <a:xfrm>
            <a:off x="571500" y="2172890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string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map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 החלפת תתי-מחרוזות בצורה מהירה ביותר.</a:t>
            </a:r>
            <a:endParaRPr lang="he-IL" noProof="0" dirty="0"/>
          </a:p>
        </p:txBody>
      </p:sp>
      <p:sp>
        <p:nvSpPr>
          <p:cNvPr id="443" name="Google Shape;443;p35"/>
          <p:cNvSpPr txBox="1"/>
          <p:nvPr/>
        </p:nvSpPr>
        <p:spPr>
          <a:xfrm>
            <a:off x="571500" y="2679501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regexp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 תמיכה מלאה ואינטגרלית בביטויים רגולריים.</a:t>
            </a:r>
            <a:endParaRPr lang="he-IL" noProof="0" dirty="0"/>
          </a:p>
        </p:txBody>
      </p:sp>
      <p:sp>
        <p:nvSpPr>
          <p:cNvPr id="444" name="Google Shape;444;p35"/>
          <p:cNvSpPr txBox="1"/>
          <p:nvPr/>
        </p:nvSpPr>
        <p:spPr>
          <a:xfrm>
            <a:off x="571500" y="3186112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string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match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 השוואת תבניות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Glob-style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פשוטה.</a:t>
            </a:r>
            <a:endParaRPr lang="he-IL" noProof="0" dirty="0"/>
          </a:p>
        </p:txBody>
      </p:sp>
      <p:sp>
        <p:nvSpPr>
          <p:cNvPr id="445" name="Google Shape;445;p35"/>
          <p:cNvSpPr txBox="1"/>
          <p:nvPr/>
        </p:nvSpPr>
        <p:spPr>
          <a:xfrm>
            <a:off x="571500" y="3692723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מניפולציות טקסט הן ה"לחם והחמאה" של השפה.</a:t>
            </a:r>
            <a:endParaRPr lang="he-IL" noProof="0" dirty="0"/>
          </a:p>
        </p:txBody>
      </p:sp>
      <p:pic>
        <p:nvPicPr>
          <p:cNvPr id="446" name="Google Shape;446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26040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76701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27362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78023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B087F2ED-727D-C82F-9D22-1320171089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457" y="1769864"/>
            <a:ext cx="6791325" cy="2790825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D921A463-BD1B-2A88-07C2-1412C538E5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782" y="4286844"/>
            <a:ext cx="5153393" cy="1828349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824FA6F8-3D4C-2DEC-6541-B07574A14B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457" y="4560689"/>
            <a:ext cx="5153393" cy="182834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BB477429-A251-C8D7-0992-97CBD0F1B8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9219" y="4560688"/>
            <a:ext cx="5153393" cy="182834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727126"/>
            <a:ext cx="3492549" cy="2403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727126"/>
            <a:ext cx="3492549" cy="2403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351" y="2727126"/>
            <a:ext cx="3492549" cy="2403871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נושאים ייחודיים</a:t>
            </a:r>
            <a:endParaRPr lang="he-IL" noProof="0" dirty="0"/>
          </a:p>
        </p:txBody>
      </p:sp>
      <p:sp>
        <p:nvSpPr>
          <p:cNvPr id="459" name="Google Shape;459;p36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0" name="Google Shape;460;p3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74125" y="3022401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6"/>
          <p:cNvSpPr txBox="1"/>
          <p:nvPr/>
        </p:nvSpPr>
        <p:spPr>
          <a:xfrm>
            <a:off x="8350675" y="367010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Event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Loop</a:t>
            </a:r>
            <a:endParaRPr lang="he-IL" noProof="0" dirty="0"/>
          </a:p>
        </p:txBody>
      </p:sp>
      <p:sp>
        <p:nvSpPr>
          <p:cNvPr id="462" name="Google Shape;462;p36"/>
          <p:cNvSpPr txBox="1"/>
          <p:nvPr/>
        </p:nvSpPr>
        <p:spPr>
          <a:xfrm>
            <a:off x="8423225" y="4165401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לולאת אירועים מובנית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vwait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), מושלמת ל-GUI ותקשורת רשת.</a:t>
            </a:r>
            <a:endParaRPr lang="he-IL" noProof="0" dirty="0"/>
          </a:p>
        </p:txBody>
      </p:sp>
      <p:pic>
        <p:nvPicPr>
          <p:cNvPr id="463" name="Google Shape;463;p3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101" y="3022401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36"/>
          <p:cNvSpPr txBox="1"/>
          <p:nvPr/>
        </p:nvSpPr>
        <p:spPr>
          <a:xfrm>
            <a:off x="4572375" y="367010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Safe-Tcl</a:t>
            </a:r>
            <a:endParaRPr lang="he-IL" noProof="0" dirty="0"/>
          </a:p>
        </p:txBody>
      </p:sp>
      <p:sp>
        <p:nvSpPr>
          <p:cNvPr id="465" name="Google Shape;465;p36"/>
          <p:cNvSpPr txBox="1"/>
          <p:nvPr/>
        </p:nvSpPr>
        <p:spPr>
          <a:xfrm>
            <a:off x="4644925" y="4165401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יצירת סביבות "ארגז חול"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Sandboxing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להרצת קוד לא בטוח.</a:t>
            </a:r>
            <a:endParaRPr lang="he-IL" noProof="0" dirty="0"/>
          </a:p>
        </p:txBody>
      </p:sp>
      <p:pic>
        <p:nvPicPr>
          <p:cNvPr id="466" name="Google Shape;466;p3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31801" y="3022401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36"/>
          <p:cNvSpPr txBox="1"/>
          <p:nvPr/>
        </p:nvSpPr>
        <p:spPr>
          <a:xfrm>
            <a:off x="794076" y="367010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Homoiconicity</a:t>
            </a:r>
            <a:endParaRPr lang="he-IL" noProof="0" dirty="0"/>
          </a:p>
        </p:txBody>
      </p:sp>
      <p:sp>
        <p:nvSpPr>
          <p:cNvPr id="468" name="Google Shape;468;p36"/>
          <p:cNvSpPr txBox="1"/>
          <p:nvPr/>
        </p:nvSpPr>
        <p:spPr>
          <a:xfrm>
            <a:off x="866626" y="4165401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הקוד הוא נתון (רשימה). ניתן לייצר קוד דינמית ולהריצו בקלות.</a:t>
            </a:r>
            <a:endParaRPr lang="he-IL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48000"/>
            <a:ext cx="9429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24250"/>
            <a:ext cx="9429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00500"/>
            <a:ext cx="9429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76750"/>
            <a:ext cx="9429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48000"/>
            <a:ext cx="9429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14475" y="3524250"/>
            <a:ext cx="84867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3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2987" y="4000500"/>
            <a:ext cx="8958262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3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85962" y="4476750"/>
            <a:ext cx="8015287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7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יתרונות מרכזיים</a:t>
            </a:r>
            <a:endParaRPr lang="he-IL" noProof="0" dirty="0"/>
          </a:p>
        </p:txBody>
      </p:sp>
      <p:sp>
        <p:nvSpPr>
          <p:cNvPr id="483" name="Google Shape;483;p37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7"/>
          <p:cNvSpPr txBox="1"/>
          <p:nvPr/>
        </p:nvSpPr>
        <p:spPr>
          <a:xfrm>
            <a:off x="10191750" y="3114675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200" b="1" i="0" u="none" strike="noStrike" cap="none" noProof="0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שילוב ב-C</a:t>
            </a:r>
            <a:endParaRPr lang="he-IL" noProof="0" dirty="0"/>
          </a:p>
        </p:txBody>
      </p:sp>
      <p:sp>
        <p:nvSpPr>
          <p:cNvPr id="485" name="Google Shape;485;p37"/>
          <p:cNvSpPr txBox="1"/>
          <p:nvPr/>
        </p:nvSpPr>
        <p:spPr>
          <a:xfrm>
            <a:off x="10191750" y="3590925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200" b="1" i="0" u="none" strike="noStrike" cap="none" noProof="0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פיתוח GUI</a:t>
            </a:r>
            <a:endParaRPr lang="he-IL" noProof="0" dirty="0"/>
          </a:p>
        </p:txBody>
      </p:sp>
      <p:sp>
        <p:nvSpPr>
          <p:cNvPr id="486" name="Google Shape;486;p37"/>
          <p:cNvSpPr txBox="1"/>
          <p:nvPr/>
        </p:nvSpPr>
        <p:spPr>
          <a:xfrm>
            <a:off x="10191750" y="4067175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200" b="1" i="0" u="none" strike="noStrike" cap="none" noProof="0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עיבוד טקסט</a:t>
            </a:r>
            <a:endParaRPr lang="he-IL" noProof="0" dirty="0"/>
          </a:p>
        </p:txBody>
      </p:sp>
      <p:sp>
        <p:nvSpPr>
          <p:cNvPr id="487" name="Google Shape;487;p37"/>
          <p:cNvSpPr txBox="1"/>
          <p:nvPr/>
        </p:nvSpPr>
        <p:spPr>
          <a:xfrm>
            <a:off x="10191750" y="4543425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200" b="1" i="0" u="none" strike="noStrike" cap="none" noProof="0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ניידות</a:t>
            </a:r>
            <a:endParaRPr lang="he-IL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8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חסרונות ואתגרים</a:t>
            </a:r>
            <a:endParaRPr lang="he-IL" noProof="0" dirty="0"/>
          </a:p>
        </p:txBody>
      </p:sp>
      <p:sp>
        <p:nvSpPr>
          <p:cNvPr id="494" name="Google Shape;494;p38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8"/>
          <p:cNvSpPr txBox="1"/>
          <p:nvPr/>
        </p:nvSpPr>
        <p:spPr>
          <a:xfrm>
            <a:off x="571500" y="2915840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ביצועים: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איטית משמעותית מ-C/C++ בחישובים נומריים כבדים.</a:t>
            </a:r>
            <a:endParaRPr lang="he-IL" noProof="0" dirty="0"/>
          </a:p>
        </p:txBody>
      </p:sp>
      <p:sp>
        <p:nvSpPr>
          <p:cNvPr id="496" name="Google Shape;496;p38"/>
          <p:cNvSpPr txBox="1"/>
          <p:nvPr/>
        </p:nvSpPr>
        <p:spPr>
          <a:xfrm>
            <a:off x="571500" y="3422451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Dynamic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Typing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קושי באיתור שגיאות במערכות ענק ללא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Static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Analysis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noProof="0" dirty="0"/>
          </a:p>
        </p:txBody>
      </p:sp>
      <p:sp>
        <p:nvSpPr>
          <p:cNvPr id="497" name="Google Shape;497;p38"/>
          <p:cNvSpPr txBox="1"/>
          <p:nvPr/>
        </p:nvSpPr>
        <p:spPr>
          <a:xfrm>
            <a:off x="571500" y="3929062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קהילה: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קטנה יותר בהשוואה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לפייתון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או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Java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כיום.</a:t>
            </a:r>
            <a:endParaRPr lang="he-IL" noProof="0" dirty="0"/>
          </a:p>
        </p:txBody>
      </p:sp>
      <p:sp>
        <p:nvSpPr>
          <p:cNvPr id="498" name="Google Shape;498;p38"/>
          <p:cNvSpPr txBox="1"/>
          <p:nvPr/>
        </p:nvSpPr>
        <p:spPr>
          <a:xfrm>
            <a:off x="571500" y="4435673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"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Quoting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Hell</a:t>
            </a:r>
            <a:r>
              <a:rPr lang="he-IL" sz="165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":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תחביר הסוגריים עלול להפוך לבלתי קריא בקוד מורכב מאוד.</a:t>
            </a:r>
            <a:endParaRPr lang="he-IL" noProof="0" dirty="0"/>
          </a:p>
        </p:txBody>
      </p:sp>
      <p:pic>
        <p:nvPicPr>
          <p:cNvPr id="499" name="Google Shape;499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00335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50996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401657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4523183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8" name="Google Shape;508;p39"/>
          <p:cNvGrpSpPr/>
          <p:nvPr/>
        </p:nvGrpSpPr>
        <p:grpSpPr>
          <a:xfrm>
            <a:off x="28575" y="571500"/>
            <a:ext cx="11592075" cy="619200"/>
            <a:chOff x="28575" y="571500"/>
            <a:chExt cx="11592075" cy="619200"/>
          </a:xfrm>
        </p:grpSpPr>
        <p:sp>
          <p:nvSpPr>
            <p:cNvPr id="509" name="Google Shape;509;p39"/>
            <p:cNvSpPr txBox="1"/>
            <p:nvPr/>
          </p:nvSpPr>
          <p:spPr>
            <a:xfrm>
              <a:off x="28575" y="571500"/>
              <a:ext cx="11401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3300" b="1" noProof="0" dirty="0">
                  <a:solidFill>
                    <a:srgbClr val="003366"/>
                  </a:solidFill>
                  <a:latin typeface="Heebo"/>
                  <a:ea typeface="Heebo"/>
                  <a:cs typeface="Heebo"/>
                  <a:sym typeface="Heebo"/>
                </a:rPr>
                <a:t>סיכום ומסקנות</a:t>
              </a:r>
            </a:p>
          </p:txBody>
        </p:sp>
        <p:sp>
          <p:nvSpPr>
            <p:cNvPr id="510" name="Google Shape;510;p39"/>
            <p:cNvSpPr/>
            <p:nvPr/>
          </p:nvSpPr>
          <p:spPr>
            <a:xfrm>
              <a:off x="11563350" y="571500"/>
              <a:ext cx="57300" cy="6192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</p:grpSp>
      <p:grpSp>
        <p:nvGrpSpPr>
          <p:cNvPr id="511" name="Google Shape;511;p39"/>
          <p:cNvGrpSpPr/>
          <p:nvPr/>
        </p:nvGrpSpPr>
        <p:grpSpPr>
          <a:xfrm>
            <a:off x="571500" y="1714500"/>
            <a:ext cx="6191400" cy="4000500"/>
            <a:chOff x="0" y="0"/>
            <a:chExt cx="6191400" cy="4000500"/>
          </a:xfrm>
        </p:grpSpPr>
        <p:sp>
          <p:nvSpPr>
            <p:cNvPr id="512" name="Google Shape;512;p39"/>
            <p:cNvSpPr/>
            <p:nvPr/>
          </p:nvSpPr>
          <p:spPr>
            <a:xfrm>
              <a:off x="0" y="0"/>
              <a:ext cx="6191400" cy="40005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513" name="Google Shape;513;p39"/>
            <p:cNvSpPr txBox="1"/>
            <p:nvPr/>
          </p:nvSpPr>
          <p:spPr>
            <a:xfrm>
              <a:off x="285750" y="285750"/>
              <a:ext cx="56199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53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כוחה של הפשטות</a:t>
              </a:r>
            </a:p>
            <a:p>
              <a:pPr marL="0" lvl="0" indent="0" algn="r" rtl="1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העיקרון "</a:t>
              </a:r>
              <a:r>
                <a:rPr lang="he-IL" sz="136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Everything</a:t>
              </a: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he-IL" sz="136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is</a:t>
              </a: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a </a:t>
              </a:r>
              <a:r>
                <a:rPr lang="he-IL" sz="136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String</a:t>
              </a: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" מעניק ל-</a:t>
              </a:r>
              <a:r>
                <a:rPr lang="he-IL" sz="136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Tcl</a:t>
              </a: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אורתוגונליות יוצאת דופן וגמישות מקסימלית בתחביר.</a:t>
              </a:r>
            </a:p>
            <a:p>
              <a:pPr marL="0" lvl="0" indent="0" algn="r" rtl="1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he-IL" sz="153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שפת ה"דבק" האולטימטיבית</a:t>
              </a:r>
            </a:p>
            <a:p>
              <a:pPr marL="0" lvl="0" indent="0" algn="r" rtl="1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היכולת להטמיע את </a:t>
              </a:r>
              <a:r>
                <a:rPr lang="he-IL" sz="136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Tcl</a:t>
              </a: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בתוך מערכות C/C++ הופכת אותה לכלי חיוני בתעשיות ה-EDA והתקשורת.</a:t>
              </a:r>
            </a:p>
            <a:p>
              <a:pPr marL="0" lvl="0" indent="0" algn="r" rtl="1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he-IL" sz="153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פיתוח GUI מהיר</a:t>
              </a:r>
            </a:p>
            <a:p>
              <a:pPr marL="0" lvl="0" indent="0" algn="r" rtl="1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ספריית </a:t>
              </a:r>
              <a:r>
                <a:rPr lang="he-IL" sz="136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Tk</a:t>
              </a: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נותרה אחת הדרכים המהירות והנגישות ביותר ליצירת ממשקי משתמש חוצי-פלטפורמות.</a:t>
              </a:r>
            </a:p>
            <a:p>
              <a:pPr marL="0" lvl="0" indent="0" algn="r" rtl="1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he-IL" sz="153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ניהול זיכרון יעיל</a:t>
              </a:r>
            </a:p>
            <a:p>
              <a:pPr marL="0" lvl="0" indent="0" algn="r" rtl="1">
                <a:spcBef>
                  <a:spcPts val="375"/>
                </a:spcBef>
                <a:spcAft>
                  <a:spcPts val="1125"/>
                </a:spcAft>
                <a:buNone/>
              </a:pP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מנגנון ה-</a:t>
              </a:r>
              <a:r>
                <a:rPr lang="he-IL" sz="136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Reference</a:t>
              </a: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he-IL" sz="136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Counting</a:t>
              </a:r>
              <a:r>
                <a:rPr lang="he-IL" sz="136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הדטרמיניסטי מבטיח ביצועים יציבים ללא השהיות של ה-GC.</a:t>
              </a:r>
            </a:p>
          </p:txBody>
        </p:sp>
      </p:grpSp>
      <p:pic>
        <p:nvPicPr>
          <p:cNvPr id="514" name="Google Shape;514;p39" descr="A sophisticated 3D abstract visualization of interlocking gears and digital nodes, representing software integration and structural simplicity, high-tech aesthetic, blue and gold color palette to match the presentation theme."/>
          <p:cNvPicPr preferRelativeResize="0"/>
          <p:nvPr/>
        </p:nvPicPr>
        <p:blipFill rotWithShape="1">
          <a:blip r:embed="rId5">
            <a:alphaModFix/>
          </a:blip>
          <a:srcRect t="6247" b="6256"/>
          <a:stretch/>
        </p:blipFill>
        <p:spPr>
          <a:xfrm>
            <a:off x="7048500" y="1714500"/>
            <a:ext cx="4572000" cy="4000500"/>
          </a:xfrm>
          <a:prstGeom prst="roundRect">
            <a:avLst>
              <a:gd name="adj" fmla="val 3571"/>
            </a:avLst>
          </a:prstGeom>
          <a:noFill/>
          <a:ln>
            <a:noFill/>
          </a:ln>
        </p:spPr>
      </p:pic>
      <p:sp>
        <p:nvSpPr>
          <p:cNvPr id="515" name="Google Shape;515;p39"/>
          <p:cNvSpPr/>
          <p:nvPr/>
        </p:nvSpPr>
        <p:spPr>
          <a:xfrm>
            <a:off x="7048500" y="1714500"/>
            <a:ext cx="4572000" cy="4000500"/>
          </a:xfrm>
          <a:prstGeom prst="roundRect">
            <a:avLst>
              <a:gd name="adj" fmla="val 3571"/>
            </a:avLst>
          </a:prstGeom>
          <a:solidFill>
            <a:srgbClr val="000000">
              <a:alpha val="0"/>
            </a:srgbClr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e-IL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0"/>
          <p:cNvSpPr txBox="1"/>
          <p:nvPr/>
        </p:nvSpPr>
        <p:spPr>
          <a:xfrm>
            <a:off x="295275" y="2097583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6000" b="0" i="0" u="none" strike="noStrike" cap="none" noProof="0" dirty="0">
                <a:solidFill>
                  <a:srgbClr val="D4AF37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שאלות?</a:t>
            </a:r>
            <a:endParaRPr lang="he-IL" noProof="0" dirty="0"/>
          </a:p>
        </p:txBody>
      </p:sp>
      <p:sp>
        <p:nvSpPr>
          <p:cNvPr id="522" name="Google Shape;522;p40"/>
          <p:cNvSpPr txBox="1"/>
          <p:nvPr/>
        </p:nvSpPr>
        <p:spPr>
          <a:xfrm>
            <a:off x="571500" y="3126283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400" b="0" i="0" u="none" strike="noStrike" cap="none" noProof="0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תודה רבה על ההקשבה!</a:t>
            </a:r>
            <a:endParaRPr lang="he-IL" noProof="0" dirty="0"/>
          </a:p>
        </p:txBody>
      </p:sp>
      <p:sp>
        <p:nvSpPr>
          <p:cNvPr id="523" name="Google Shape;523;p40"/>
          <p:cNvSpPr txBox="1"/>
          <p:nvPr/>
        </p:nvSpPr>
        <p:spPr>
          <a:xfrm>
            <a:off x="571500" y="4090094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מציגים: גדליה סבע ונועם חדד</a:t>
            </a:r>
            <a:endParaRPr lang="he-IL" noProof="0" dirty="0"/>
          </a:p>
        </p:txBody>
      </p:sp>
      <p:sp>
        <p:nvSpPr>
          <p:cNvPr id="524" name="Google Shape;524;p40"/>
          <p:cNvSpPr txBox="1"/>
          <p:nvPr/>
        </p:nvSpPr>
        <p:spPr>
          <a:xfrm>
            <a:off x="571500" y="442525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e-IL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1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Sources</a:t>
            </a:r>
            <a:endParaRPr lang="he-IL" noProof="0" dirty="0"/>
          </a:p>
        </p:txBody>
      </p:sp>
      <p:sp>
        <p:nvSpPr>
          <p:cNvPr id="531" name="Google Shape;531;p41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1"/>
          <p:cNvSpPr/>
          <p:nvPr/>
        </p:nvSpPr>
        <p:spPr>
          <a:xfrm>
            <a:off x="571500" y="275659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6AADE034-CAB3-9729-A82C-A4A7BB6AB661}"/>
              </a:ext>
            </a:extLst>
          </p:cNvPr>
          <p:cNvSpPr txBox="1"/>
          <p:nvPr/>
        </p:nvSpPr>
        <p:spPr>
          <a:xfrm>
            <a:off x="381000" y="1190625"/>
            <a:ext cx="110490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he-IL" sz="1600" b="1" dirty="0"/>
              <a:t>היסטוריה, ייעוד ו-</a:t>
            </a:r>
            <a:r>
              <a:rPr lang="fr-FR" sz="1600" b="1" dirty="0"/>
              <a:t>Glue </a:t>
            </a:r>
            <a:r>
              <a:rPr lang="fr-FR" sz="1600" b="1" dirty="0" err="1"/>
              <a:t>Language</a:t>
            </a:r>
            <a:r>
              <a:rPr lang="he-IL" sz="1600" b="1" dirty="0"/>
              <a:t> </a:t>
            </a:r>
            <a:r>
              <a:rPr lang="fr-FR" sz="1600" b="1" dirty="0"/>
              <a:t>: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היסטוריה של </a:t>
            </a:r>
            <a:r>
              <a:rPr lang="fr-FR" sz="1600" dirty="0" err="1"/>
              <a:t>Tcl</a:t>
            </a:r>
            <a:r>
              <a:rPr lang="fr-FR" sz="1600" dirty="0"/>
              <a:t>/</a:t>
            </a:r>
            <a:r>
              <a:rPr lang="fr-FR" sz="1600" dirty="0" err="1"/>
              <a:t>Tk</a:t>
            </a:r>
            <a:r>
              <a:rPr lang="he-IL" sz="1600" dirty="0"/>
              <a:t>: </a:t>
            </a:r>
            <a:r>
              <a:rPr lang="fr-FR" sz="1600" dirty="0"/>
              <a:t> </a:t>
            </a:r>
            <a:r>
              <a:rPr lang="fr-FR" sz="1600" dirty="0">
                <a:hlinkClick r:id="rId3"/>
              </a:rPr>
              <a:t>https://tldp.org/HOWTO/TclTk-HOWTO-2.html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המושג </a:t>
            </a:r>
            <a:r>
              <a:rPr lang="fr-FR" sz="1600" dirty="0"/>
              <a:t>Glue </a:t>
            </a:r>
            <a:r>
              <a:rPr lang="fr-FR" sz="1600" dirty="0" err="1"/>
              <a:t>Language</a:t>
            </a:r>
            <a:r>
              <a:rPr lang="he-IL" sz="1600" dirty="0"/>
              <a:t>: </a:t>
            </a:r>
            <a:r>
              <a:rPr lang="fr-FR" sz="1600" dirty="0"/>
              <a:t> </a:t>
            </a:r>
            <a:r>
              <a:rPr lang="fr-FR" sz="1600" dirty="0">
                <a:hlinkClick r:id="rId4"/>
              </a:rPr>
              <a:t>https://www.devx.com/terms/glue-language/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פיתוח אבות-טיפוס ו"שפת דבק" </a:t>
            </a:r>
            <a:r>
              <a:rPr lang="fr-FR" sz="1600" dirty="0"/>
              <a:t>USENIX </a:t>
            </a:r>
            <a:r>
              <a:rPr lang="fr-FR" sz="1600" dirty="0">
                <a:hlinkClick r:id="rId5"/>
              </a:rPr>
              <a:t>https://www.usenix.org/legacy/events/tcl98/tcl98/full_papers/amaranth/amaranth_html/amaranth.html</a:t>
            </a:r>
            <a:endParaRPr lang="fr-FR" sz="1600" dirty="0"/>
          </a:p>
          <a:p>
            <a:pPr algn="r" rtl="1">
              <a:buNone/>
            </a:pPr>
            <a:endParaRPr lang="he-IL" sz="1600" b="1" dirty="0"/>
          </a:p>
          <a:p>
            <a:pPr algn="r" rtl="1">
              <a:buNone/>
            </a:pPr>
            <a:r>
              <a:rPr lang="he-IL" sz="1600" b="1" dirty="0"/>
              <a:t>מודל נתונים, ניהול זיכרון (</a:t>
            </a:r>
            <a:r>
              <a:rPr lang="he-IL" sz="1600" b="1" dirty="0" err="1"/>
              <a:t>הכל</a:t>
            </a:r>
            <a:r>
              <a:rPr lang="he-IL" sz="1600" b="1" dirty="0"/>
              <a:t> מחרוזת):</a:t>
            </a:r>
            <a:endParaRPr lang="he-IL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 err="1"/>
              <a:t>הכל</a:t>
            </a:r>
            <a:r>
              <a:rPr lang="he-IL" sz="1600" dirty="0"/>
              <a:t> מחרוזת: </a:t>
            </a:r>
            <a:r>
              <a:rPr lang="fr-FR" sz="1600" dirty="0">
                <a:hlinkClick r:id="rId6"/>
              </a:rPr>
              <a:t>https://wiki.tcl-lang.org/page/everything+is+a+string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ניהול זיכרון: </a:t>
            </a:r>
            <a:r>
              <a:rPr lang="fr-FR" sz="1600" dirty="0">
                <a:hlinkClick r:id="rId7"/>
              </a:rPr>
              <a:t>https://wiki.tcl-lang.org/page/memory+management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איסוף זבל </a:t>
            </a:r>
            <a:r>
              <a:rPr lang="fr-FR" sz="1600" dirty="0"/>
              <a:t>Garbage Collection</a:t>
            </a:r>
            <a:r>
              <a:rPr lang="he-IL" sz="1600" dirty="0"/>
              <a:t>: </a:t>
            </a:r>
            <a:r>
              <a:rPr lang="fr-FR" sz="1600" dirty="0"/>
              <a:t> </a:t>
            </a:r>
            <a:r>
              <a:rPr lang="fr-FR" sz="1600" dirty="0">
                <a:hlinkClick r:id="rId8"/>
              </a:rPr>
              <a:t>https://wiki.tcl-lang.org/page/Garbage+collection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ארכיטקטורה ו-</a:t>
            </a:r>
            <a:r>
              <a:rPr lang="fr-FR" sz="1600" dirty="0" err="1"/>
              <a:t>Tcl_Obj</a:t>
            </a:r>
            <a:r>
              <a:rPr lang="fr-FR" sz="1600" dirty="0"/>
              <a:t> </a:t>
            </a:r>
            <a:r>
              <a:rPr lang="he-IL" sz="1600" dirty="0"/>
              <a:t>מאמר: </a:t>
            </a:r>
            <a:r>
              <a:rPr lang="fr-FR" sz="1600" dirty="0">
                <a:hlinkClick r:id="rId9"/>
              </a:rPr>
              <a:t>https://arxiv.org/html/2604.10399v1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סוגי נתונים דינמיים: </a:t>
            </a:r>
            <a:r>
              <a:rPr lang="fr-FR" sz="1600" dirty="0">
                <a:hlinkClick r:id="rId10"/>
              </a:rPr>
              <a:t>https://www.equi4.com/moam/strength.html</a:t>
            </a:r>
            <a:endParaRPr lang="fr-FR" sz="1600" dirty="0"/>
          </a:p>
          <a:p>
            <a:pPr algn="r" rtl="1">
              <a:buNone/>
            </a:pPr>
            <a:endParaRPr lang="he-IL" sz="1600" b="1" dirty="0"/>
          </a:p>
          <a:p>
            <a:pPr algn="r" rtl="1">
              <a:buNone/>
            </a:pPr>
            <a:r>
              <a:rPr lang="he-IL" sz="1600" b="1" dirty="0"/>
              <a:t>תחביר, פקודות ומרחבי הכרה </a:t>
            </a:r>
            <a:r>
              <a:rPr lang="fr-FR" sz="1600" b="1" dirty="0"/>
              <a:t>Scopes</a:t>
            </a:r>
            <a:r>
              <a:rPr lang="he-IL" sz="1600" b="1" dirty="0"/>
              <a:t>: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מדריך </a:t>
            </a:r>
            <a:r>
              <a:rPr lang="fr-FR" sz="1600" dirty="0" err="1"/>
              <a:t>Tcl</a:t>
            </a:r>
            <a:r>
              <a:rPr lang="fr-FR" sz="1600" dirty="0"/>
              <a:t> </a:t>
            </a:r>
            <a:r>
              <a:rPr lang="he-IL" sz="1600" dirty="0"/>
              <a:t>: </a:t>
            </a:r>
            <a:r>
              <a:rPr lang="fr-FR" sz="1600" dirty="0">
                <a:hlinkClick r:id="rId11"/>
              </a:rPr>
              <a:t>https://wiki.tcl-lang.org/page/Tcl+Tutorial+Lesson+14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תיעוד פקודת </a:t>
            </a:r>
            <a:r>
              <a:rPr lang="fr-FR" sz="1600" dirty="0" err="1"/>
              <a:t>expr</a:t>
            </a:r>
            <a:r>
              <a:rPr lang="he-IL" sz="1600" dirty="0"/>
              <a:t>:</a:t>
            </a:r>
            <a:r>
              <a:rPr lang="fr-FR" sz="1600" dirty="0"/>
              <a:t> </a:t>
            </a:r>
            <a:r>
              <a:rPr lang="fr-FR" sz="1600" dirty="0">
                <a:hlinkClick r:id="rId12"/>
              </a:rPr>
              <a:t>https://www.tcl-lang.org/man/tcl8.4/TclCmd/expr.htm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ניהול מרחבי הכרה </a:t>
            </a:r>
            <a:r>
              <a:rPr lang="fr-FR" sz="1600" dirty="0" err="1"/>
              <a:t>Namespaces</a:t>
            </a:r>
            <a:r>
              <a:rPr lang="fr-FR" sz="1600" dirty="0"/>
              <a:t> &amp; Scopes</a:t>
            </a:r>
            <a:r>
              <a:rPr lang="he-IL" sz="1600" dirty="0"/>
              <a:t>: </a:t>
            </a:r>
            <a:r>
              <a:rPr lang="fr-FR" sz="1600" dirty="0"/>
              <a:t> </a:t>
            </a:r>
            <a:r>
              <a:rPr lang="fr-FR" sz="1600" dirty="0">
                <a:hlinkClick r:id="rId13"/>
              </a:rPr>
              <a:t>http://www.beedub.com/book/2nd/Name.doc.html</a:t>
            </a:r>
            <a:endParaRPr lang="fr-FR" sz="1600" dirty="0"/>
          </a:p>
          <a:p>
            <a:pPr algn="r" rtl="1">
              <a:buNone/>
            </a:pPr>
            <a:endParaRPr lang="he-IL" sz="1600" b="1" dirty="0"/>
          </a:p>
          <a:p>
            <a:pPr algn="r" rtl="1">
              <a:buNone/>
            </a:pPr>
            <a:r>
              <a:rPr lang="he-IL" sz="1600" b="1" dirty="0"/>
              <a:t>תכנות מונחה עצמים </a:t>
            </a:r>
            <a:r>
              <a:rPr lang="fr-FR" sz="1600" b="1" dirty="0"/>
              <a:t>OOP</a:t>
            </a:r>
            <a:r>
              <a:rPr lang="he-IL" sz="1600" b="1" dirty="0"/>
              <a:t> : </a:t>
            </a:r>
          </a:p>
          <a:p>
            <a:pPr algn="r" rtl="1">
              <a:buNone/>
            </a:pPr>
            <a:r>
              <a:rPr lang="he-IL" sz="1600" dirty="0"/>
              <a:t>יתרונות וחסרונות של </a:t>
            </a:r>
            <a:r>
              <a:rPr lang="fr-FR" sz="1600" dirty="0"/>
              <a:t>OOP </a:t>
            </a:r>
            <a:r>
              <a:rPr lang="he-IL" sz="1600" dirty="0"/>
              <a:t>ב-</a:t>
            </a:r>
            <a:r>
              <a:rPr lang="fr-FR" sz="1600" dirty="0" err="1"/>
              <a:t>Tcl</a:t>
            </a:r>
            <a:r>
              <a:rPr lang="he-IL" sz="1600" dirty="0"/>
              <a:t>: </a:t>
            </a:r>
            <a:r>
              <a:rPr lang="fr-FR" sz="1600" dirty="0">
                <a:hlinkClick r:id="rId14"/>
              </a:rPr>
              <a:t>https://wiki.tcl-lang.org/page/Advantages+and+Disadvantages+of+OOP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ספריית </a:t>
            </a:r>
            <a:r>
              <a:rPr lang="fr-FR" sz="1600" dirty="0" err="1"/>
              <a:t>TclOO</a:t>
            </a:r>
            <a:r>
              <a:rPr lang="he-IL" sz="1600" dirty="0"/>
              <a:t>הרשמית: </a:t>
            </a:r>
            <a:r>
              <a:rPr lang="fr-FR" sz="1600" dirty="0">
                <a:hlinkClick r:id="rId15"/>
              </a:rPr>
              <a:t>https://github.com/tcltk/tcloo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היסטוריית </a:t>
            </a:r>
            <a:r>
              <a:rPr lang="fr-FR" sz="1600" dirty="0"/>
              <a:t>OOP </a:t>
            </a:r>
            <a:r>
              <a:rPr lang="he-IL" sz="1600" dirty="0"/>
              <a:t>ב-</a:t>
            </a:r>
            <a:r>
              <a:rPr lang="fr-FR" sz="1600" dirty="0" err="1"/>
              <a:t>Tcl</a:t>
            </a:r>
            <a:r>
              <a:rPr lang="he-IL" sz="1600" dirty="0"/>
              <a:t>: </a:t>
            </a:r>
            <a:r>
              <a:rPr lang="fr-FR" sz="1600" dirty="0"/>
              <a:t> </a:t>
            </a:r>
            <a:r>
              <a:rPr lang="fr-FR" sz="1600" dirty="0">
                <a:hlinkClick r:id="rId16"/>
              </a:rPr>
              <a:t>https://next-scripting.org/xowiki/docs/nx/tutorial</a:t>
            </a:r>
            <a:endParaRPr lang="fr-FR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1515</Words>
  <Application>Microsoft Office PowerPoint</Application>
  <PresentationFormat>מסך רחב</PresentationFormat>
  <Paragraphs>196</Paragraphs>
  <Slides>28</Slides>
  <Notes>28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28</vt:i4>
      </vt:variant>
    </vt:vector>
  </HeadingPairs>
  <TitlesOfParts>
    <vt:vector size="35" baseType="lpstr">
      <vt:lpstr>Heebo</vt:lpstr>
      <vt:lpstr>Courier New</vt:lpstr>
      <vt:lpstr>Calibri</vt:lpstr>
      <vt:lpstr>Heebo ExtraBold</vt:lpstr>
      <vt:lpstr>Assistant</vt:lpstr>
      <vt:lpstr>Arial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גדליה סבע</cp:lastModifiedBy>
  <cp:revision>20</cp:revision>
  <dcterms:modified xsi:type="dcterms:W3CDTF">2026-05-20T10:14:20Z</dcterms:modified>
</cp:coreProperties>
</file>