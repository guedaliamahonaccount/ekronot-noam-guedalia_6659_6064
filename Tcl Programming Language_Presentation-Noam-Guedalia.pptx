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4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embeddedFontLst>
    <p:embeddedFont>
      <p:font typeface="Assistant" pitchFamily="2" charset="-79"/>
      <p:regular r:id="rId31"/>
      <p:bold r:id="rId32"/>
    </p:embeddedFont>
    <p:embeddedFont>
      <p:font typeface="Heebo" pitchFamily="2" charset="-79"/>
      <p:regular r:id="rId33"/>
      <p:bold r:id="rId34"/>
    </p:embeddedFont>
    <p:embeddedFont>
      <p:font typeface="Heebo ExtraBold" pitchFamily="2" charset="-79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818A2C4-7DA0-4F76-A5B3-8B96248F8CAC}">
  <a:tblStyle styleId="{C818A2C4-7DA0-4F76-A5B3-8B96248F8CA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469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2b629f801_0_6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2b629f801_0_6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2b629f801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e2b629f801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>
          <a:extLst>
            <a:ext uri="{FF2B5EF4-FFF2-40B4-BE49-F238E27FC236}">
              <a16:creationId xmlns:a16="http://schemas.microsoft.com/office/drawing/2014/main" id="{D91128EC-878B-52C9-C967-968BC6FA1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0:notes">
            <a:extLst>
              <a:ext uri="{FF2B5EF4-FFF2-40B4-BE49-F238E27FC236}">
                <a16:creationId xmlns:a16="http://schemas.microsoft.com/office/drawing/2014/main" id="{57CF86C4-84A4-FBEA-D08C-3867C2CAF7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0:notes">
            <a:extLst>
              <a:ext uri="{FF2B5EF4-FFF2-40B4-BE49-F238E27FC236}">
                <a16:creationId xmlns:a16="http://schemas.microsoft.com/office/drawing/2014/main" id="{4AFDD622-ACE2-52FA-009C-17708D29FC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96715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e2b629f801_0_5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e2b629f801_0_5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2b629f801_13_0)">
  <p:cSld name="Generated (g3e2b629f801_13_0)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jpe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4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jpe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2.png"/><Relationship Id="rId4" Type="http://schemas.openxmlformats.org/officeDocument/2006/relationships/image" Target="../media/image16.png"/><Relationship Id="rId9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jpe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2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5.jp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iki.tcl-lang.org/page/memory+management" TargetMode="External"/><Relationship Id="rId13" Type="http://schemas.openxmlformats.org/officeDocument/2006/relationships/hyperlink" Target="https://www.tcl-lang.org/man/tcl8.4/TclCmd/expr.htm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iki.tcl-lang.org/page/everything+is+a+string" TargetMode="External"/><Relationship Id="rId12" Type="http://schemas.openxmlformats.org/officeDocument/2006/relationships/hyperlink" Target="https://wiki.tcl-lang.org/page/Tcl+Tutorial+Lesson+14" TargetMode="External"/><Relationship Id="rId17" Type="http://schemas.openxmlformats.org/officeDocument/2006/relationships/hyperlink" Target="https://next-scripting.org/xowiki/docs/nx/tutorial" TargetMode="External"/><Relationship Id="rId2" Type="http://schemas.openxmlformats.org/officeDocument/2006/relationships/notesSlide" Target="../notesSlides/notesSlide28.xml"/><Relationship Id="rId16" Type="http://schemas.openxmlformats.org/officeDocument/2006/relationships/hyperlink" Target="https://github.com/tcltk/tcloo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usenix.org/legacy/events/tcl98/tcl98/full_papers/amaranth/amaranth_html/amaranth.html" TargetMode="External"/><Relationship Id="rId11" Type="http://schemas.openxmlformats.org/officeDocument/2006/relationships/hyperlink" Target="https://www.equi4.com/moam/strength.html" TargetMode="External"/><Relationship Id="rId5" Type="http://schemas.openxmlformats.org/officeDocument/2006/relationships/hyperlink" Target="https://www.devx.com/terms/glue-language/" TargetMode="External"/><Relationship Id="rId15" Type="http://schemas.openxmlformats.org/officeDocument/2006/relationships/hyperlink" Target="https://wiki.tcl-lang.org/page/Advantages+and+Disadvantages+of+OOP" TargetMode="External"/><Relationship Id="rId10" Type="http://schemas.openxmlformats.org/officeDocument/2006/relationships/hyperlink" Target="https://arxiv.org/html/2604.10399v1" TargetMode="External"/><Relationship Id="rId4" Type="http://schemas.openxmlformats.org/officeDocument/2006/relationships/hyperlink" Target="https://tldp.org/HOWTO/TclTk-HOWTO-2.html" TargetMode="External"/><Relationship Id="rId9" Type="http://schemas.openxmlformats.org/officeDocument/2006/relationships/hyperlink" Target="https://wiki.tcl-lang.org/page/Garbage+collection" TargetMode="External"/><Relationship Id="rId14" Type="http://schemas.openxmlformats.org/officeDocument/2006/relationships/hyperlink" Target="http://www.beedub.com/book/2nd/Name.doc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295275" y="1674614"/>
            <a:ext cx="116014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0" i="0" u="none" strike="noStrike" cap="none" noProof="0" dirty="0" err="1">
                <a:solidFill>
                  <a:srgbClr val="003366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Tcl</a:t>
            </a:r>
            <a:endParaRPr lang="he-IL" noProof="0" dirty="0"/>
          </a:p>
        </p:txBody>
      </p:sp>
      <p:sp>
        <p:nvSpPr>
          <p:cNvPr id="87" name="Google Shape;87;p14"/>
          <p:cNvSpPr txBox="1"/>
          <p:nvPr/>
        </p:nvSpPr>
        <p:spPr>
          <a:xfrm>
            <a:off x="571500" y="2722364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4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Tool</a:t>
            </a:r>
            <a:r>
              <a:rPr lang="he-IL" sz="24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24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Command</a:t>
            </a:r>
            <a:r>
              <a:rPr lang="he-IL" sz="24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24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Language</a:t>
            </a:r>
            <a:endParaRPr lang="he-IL" noProof="0" dirty="0"/>
          </a:p>
        </p:txBody>
      </p:sp>
      <p:sp>
        <p:nvSpPr>
          <p:cNvPr id="88" name="Google Shape;88;p14"/>
          <p:cNvSpPr/>
          <p:nvPr/>
        </p:nvSpPr>
        <p:spPr>
          <a:xfrm>
            <a:off x="5143500" y="3781425"/>
            <a:ext cx="19050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571500" y="4010025"/>
            <a:ext cx="1104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7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קורס: עקרונות שפות תכנות</a:t>
            </a:r>
            <a:endParaRPr lang="he-IL" sz="2000" noProof="0" dirty="0"/>
          </a:p>
        </p:txBody>
      </p:sp>
      <p:sp>
        <p:nvSpPr>
          <p:cNvPr id="90" name="Google Shape;90;p14"/>
          <p:cNvSpPr txBox="1"/>
          <p:nvPr/>
        </p:nvSpPr>
        <p:spPr>
          <a:xfrm>
            <a:off x="571500" y="481771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מגישים: </a:t>
            </a:r>
            <a:r>
              <a:rPr lang="he-IL" sz="18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גדליה סבע ונועם חדד</a:t>
            </a:r>
            <a:endParaRPr lang="he-IL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13099"/>
            <a:ext cx="5334000" cy="303192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/>
          <p:nvPr/>
        </p:nvSpPr>
        <p:spPr>
          <a:xfrm>
            <a:off x="28575" y="571500"/>
            <a:ext cx="11401500" cy="9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41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רקע והיסטוריה</a:t>
            </a:r>
            <a:endParaRPr lang="he-IL" sz="2200" noProof="0" dirty="0"/>
          </a:p>
        </p:txBody>
      </p:sp>
      <p:sp>
        <p:nvSpPr>
          <p:cNvPr id="98" name="Google Shape;98;p15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6286500" y="2413099"/>
            <a:ext cx="50007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פותחה בשנת</a:t>
            </a:r>
            <a:r>
              <a:rPr lang="he-IL" sz="165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1988 </a:t>
            </a:r>
            <a:r>
              <a:rPr lang="he-IL" sz="165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ע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"י </a:t>
            </a: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John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Ousterhout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 באוניברסיטת ברקלי.</a:t>
            </a:r>
            <a:endParaRPr lang="he-IL" noProof="0" dirty="0"/>
          </a:p>
        </p:txBody>
      </p:sp>
      <p:sp>
        <p:nvSpPr>
          <p:cNvPr id="100" name="Google Shape;100;p15"/>
          <p:cNvSpPr txBox="1"/>
          <p:nvPr/>
        </p:nvSpPr>
        <p:spPr>
          <a:xfrm>
            <a:off x="6286500" y="2919710"/>
            <a:ext cx="5000625" cy="841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נוצרה כשפת פקודות אוניברסלית הניתנת להטמעה (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Embeddable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 </a:t>
            </a:r>
            <a:r>
              <a:rPr lang="he-IL" sz="165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במערכות C/C++.</a:t>
            </a:r>
            <a:endParaRPr lang="he-IL" noProof="0" dirty="0"/>
          </a:p>
        </p:txBody>
      </p:sp>
      <p:sp>
        <p:nvSpPr>
          <p:cNvPr id="101" name="Google Shape;101;p15"/>
          <p:cNvSpPr txBox="1"/>
          <p:nvPr/>
        </p:nvSpPr>
        <p:spPr>
          <a:xfrm>
            <a:off x="6286500" y="3761482"/>
            <a:ext cx="5000625" cy="764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הושפעה משפות כמו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Lisp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(רשימות ודינמיות) ו-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Unix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Shells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(פשטות פקודות)</a:t>
            </a:r>
            <a:endParaRPr lang="he-IL" noProof="0" dirty="0"/>
          </a:p>
        </p:txBody>
      </p:sp>
      <p:sp>
        <p:nvSpPr>
          <p:cNvPr id="102" name="Google Shape;102;p15"/>
          <p:cNvSpPr txBox="1"/>
          <p:nvPr/>
        </p:nvSpPr>
        <p:spPr>
          <a:xfrm>
            <a:off x="6286500" y="4603253"/>
            <a:ext cx="5000625" cy="764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בשנת 1990 שוחררה ספריית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Tk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, שהפכה אותה לסטנדרט לפיתוח GUI.</a:t>
            </a:r>
            <a:endParaRPr lang="he-IL" noProof="0" dirty="0"/>
          </a:p>
        </p:txBody>
      </p:sp>
      <p:pic>
        <p:nvPicPr>
          <p:cNvPr id="103" name="Google Shape;10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77625" y="2533983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77625" y="3035569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77625" y="387734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77625" y="471911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7675" y="1190625"/>
            <a:ext cx="3650025" cy="45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488108"/>
            <a:ext cx="3492549" cy="2881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488108"/>
            <a:ext cx="3492549" cy="2881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351" y="2488108"/>
            <a:ext cx="3492549" cy="288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מטרות השפה וייחודה</a:t>
            </a:r>
            <a:endParaRPr lang="he-IL" noProof="0" dirty="0"/>
          </a:p>
        </p:txBody>
      </p:sp>
      <p:sp>
        <p:nvSpPr>
          <p:cNvPr id="117" name="Google Shape;117;p16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8350675" y="3573958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Glue</a:t>
            </a:r>
            <a:r>
              <a:rPr lang="he-IL" sz="21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Language</a:t>
            </a:r>
            <a:endParaRPr lang="he-IL" noProof="0" dirty="0"/>
          </a:p>
        </p:txBody>
      </p:sp>
      <p:sp>
        <p:nvSpPr>
          <p:cNvPr id="119" name="Google Shape;119;p16"/>
          <p:cNvSpPr txBox="1"/>
          <p:nvPr/>
        </p:nvSpPr>
        <p:spPr>
          <a:xfrm>
            <a:off x="8423225" y="4069248"/>
            <a:ext cx="29019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נועדה לשמש כ"דבק" המחבר בין רכיבי תוכנה שונים שנכתבו בשפות נמוכות (C/C++).</a:t>
            </a:r>
            <a:endParaRPr lang="he-IL" noProof="0" dirty="0"/>
          </a:p>
        </p:txBody>
      </p:sp>
      <p:sp>
        <p:nvSpPr>
          <p:cNvPr id="120" name="Google Shape;120;p16"/>
          <p:cNvSpPr txBox="1"/>
          <p:nvPr/>
        </p:nvSpPr>
        <p:spPr>
          <a:xfrm>
            <a:off x="4572375" y="3573958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Rapid</a:t>
            </a:r>
            <a:r>
              <a:rPr lang="he-IL" sz="21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Prototyping</a:t>
            </a:r>
            <a:endParaRPr lang="he-IL" noProof="0" dirty="0"/>
          </a:p>
        </p:txBody>
      </p:sp>
      <p:sp>
        <p:nvSpPr>
          <p:cNvPr id="121" name="Google Shape;121;p16"/>
          <p:cNvSpPr txBox="1"/>
          <p:nvPr/>
        </p:nvSpPr>
        <p:spPr>
          <a:xfrm>
            <a:off x="4644925" y="4069258"/>
            <a:ext cx="29019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פיתוח מהיר של ממשקי משתמש גרפיים בעזרת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Tk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וסקריפטים קצרים.</a:t>
            </a:r>
            <a:endParaRPr lang="he-IL" noProof="0" dirty="0"/>
          </a:p>
        </p:txBody>
      </p:sp>
      <p:sp>
        <p:nvSpPr>
          <p:cNvPr id="122" name="Google Shape;122;p16"/>
          <p:cNvSpPr txBox="1"/>
          <p:nvPr/>
        </p:nvSpPr>
        <p:spPr>
          <a:xfrm>
            <a:off x="794076" y="3573958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Industrial</a:t>
            </a:r>
            <a:r>
              <a:rPr lang="he-IL" sz="21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Usage</a:t>
            </a:r>
            <a:endParaRPr lang="he-IL" noProof="0" dirty="0"/>
          </a:p>
        </p:txBody>
      </p:sp>
      <p:sp>
        <p:nvSpPr>
          <p:cNvPr id="123" name="Google Shape;123;p16"/>
          <p:cNvSpPr txBox="1"/>
          <p:nvPr/>
        </p:nvSpPr>
        <p:spPr>
          <a:xfrm>
            <a:off x="866626" y="4069258"/>
            <a:ext cx="290190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פתרון בעיות בתעשיית השבבים (EDA) והתקשורת (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Cisco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).</a:t>
            </a:r>
            <a:endParaRPr lang="he-IL" noProof="0" dirty="0"/>
          </a:p>
        </p:txBody>
      </p:sp>
      <p:pic>
        <p:nvPicPr>
          <p:cNvPr id="124" name="Google Shape;12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45550" y="28500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38676" y="2850058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88951" y="2850058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036689"/>
            <a:ext cx="5334000" cy="1784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36689"/>
            <a:ext cx="5334000" cy="178474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פרדיגמות תכנות</a:t>
            </a:r>
            <a:endParaRPr lang="he-IL" noProof="0" dirty="0"/>
          </a:p>
        </p:txBody>
      </p:sp>
      <p:sp>
        <p:nvSpPr>
          <p:cNvPr id="135" name="Google Shape;135;p17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6572250" y="3370064"/>
            <a:ext cx="500062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אימפרטיבית / פרוצדורלית</a:t>
            </a:r>
            <a:endParaRPr lang="he-IL" noProof="0" dirty="0"/>
          </a:p>
        </p:txBody>
      </p:sp>
      <p:sp>
        <p:nvSpPr>
          <p:cNvPr id="137" name="Google Shape;137;p17"/>
          <p:cNvSpPr txBox="1"/>
          <p:nvPr/>
        </p:nvSpPr>
        <p:spPr>
          <a:xfrm>
            <a:off x="6572250" y="3865364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זוהי הפרדיגמה המרכזית. התוכנית מבוצעת כרצף של פקודות המשנות את מצב הזיכרון.</a:t>
            </a:r>
            <a:endParaRPr lang="he-IL" noProof="0" dirty="0"/>
          </a:p>
        </p:txBody>
      </p:sp>
      <p:sp>
        <p:nvSpPr>
          <p:cNvPr id="138" name="Google Shape;138;p17"/>
          <p:cNvSpPr txBox="1"/>
          <p:nvPr/>
        </p:nvSpPr>
        <p:spPr>
          <a:xfrm>
            <a:off x="857250" y="3370064"/>
            <a:ext cx="500062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Event-Driven</a:t>
            </a:r>
            <a:r>
              <a:rPr lang="he-IL" sz="21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&amp; OOP</a:t>
            </a:r>
            <a:endParaRPr lang="he-IL" noProof="0" dirty="0"/>
          </a:p>
        </p:txBody>
      </p:sp>
      <p:sp>
        <p:nvSpPr>
          <p:cNvPr id="139" name="Google Shape;139;p17"/>
          <p:cNvSpPr txBox="1"/>
          <p:nvPr/>
        </p:nvSpPr>
        <p:spPr>
          <a:xfrm>
            <a:off x="857250" y="3865364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תמיכה מובנית בלולאת אירועים. מאז גרסה 8.6 קיימת תמיכה מלאה ב-OOP דרך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TclOO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lang="he-IL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/>
          <p:nvPr/>
        </p:nvSpPr>
        <p:spPr>
          <a:xfrm>
            <a:off x="11563350" y="571500"/>
            <a:ext cx="57300" cy="619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e-IL" noProof="0" dirty="0"/>
          </a:p>
        </p:txBody>
      </p:sp>
      <p:sp>
        <p:nvSpPr>
          <p:cNvPr id="146" name="Google Shape;146;p18"/>
          <p:cNvSpPr txBox="1"/>
          <p:nvPr/>
        </p:nvSpPr>
        <p:spPr>
          <a:xfrm>
            <a:off x="28575" y="571500"/>
            <a:ext cx="114015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תחביר בסיסי ודוגמאות קוד</a:t>
            </a:r>
          </a:p>
        </p:txBody>
      </p:sp>
      <p:grpSp>
        <p:nvGrpSpPr>
          <p:cNvPr id="147" name="Google Shape;147;p18"/>
          <p:cNvGrpSpPr/>
          <p:nvPr/>
        </p:nvGrpSpPr>
        <p:grpSpPr>
          <a:xfrm>
            <a:off x="6286500" y="1714500"/>
            <a:ext cx="5334000" cy="1047900"/>
            <a:chOff x="0" y="0"/>
            <a:chExt cx="5334000" cy="1047900"/>
          </a:xfrm>
        </p:grpSpPr>
        <p:sp>
          <p:nvSpPr>
            <p:cNvPr id="148" name="Google Shape;148;p18"/>
            <p:cNvSpPr/>
            <p:nvPr/>
          </p:nvSpPr>
          <p:spPr>
            <a:xfrm>
              <a:off x="0" y="0"/>
              <a:ext cx="5334000" cy="1047900"/>
            </a:xfrm>
            <a:prstGeom prst="roundRect">
              <a:avLst>
                <a:gd name="adj" fmla="val 9090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149" name="Google Shape;149;p18"/>
            <p:cNvSpPr txBox="1"/>
            <p:nvPr/>
          </p:nvSpPr>
          <p:spPr>
            <a:xfrm>
              <a:off x="381000" y="142950"/>
              <a:ext cx="4953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210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מבנה הפקודה</a:t>
              </a:r>
            </a:p>
            <a:p>
              <a:pPr lvl="0" algn="r" rtl="1">
                <a:spcBef>
                  <a:spcPts val="750"/>
                </a:spcBef>
              </a:pPr>
              <a:r>
                <a:rPr lang="he-IL" sz="16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כל פקודה היא רשימה: </a:t>
              </a:r>
              <a:r>
                <a:rPr lang="fr-FR" dirty="0">
                  <a:highlight>
                    <a:srgbClr val="F0F0F0"/>
                  </a:highlight>
                </a:rPr>
                <a:t>command arg1 arg2 ...</a:t>
              </a:r>
              <a:endParaRPr lang="he-IL" sz="16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150" name="Google Shape;150;p18"/>
          <p:cNvGrpSpPr/>
          <p:nvPr/>
        </p:nvGrpSpPr>
        <p:grpSpPr>
          <a:xfrm>
            <a:off x="6286500" y="2952750"/>
            <a:ext cx="5334000" cy="1047900"/>
            <a:chOff x="0" y="0"/>
            <a:chExt cx="5334000" cy="1047900"/>
          </a:xfrm>
        </p:grpSpPr>
        <p:sp>
          <p:nvSpPr>
            <p:cNvPr id="151" name="Google Shape;151;p18"/>
            <p:cNvSpPr/>
            <p:nvPr/>
          </p:nvSpPr>
          <p:spPr>
            <a:xfrm>
              <a:off x="0" y="0"/>
              <a:ext cx="5334000" cy="1047900"/>
            </a:xfrm>
            <a:prstGeom prst="roundRect">
              <a:avLst>
                <a:gd name="adj" fmla="val 9090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152" name="Google Shape;152;p18"/>
            <p:cNvSpPr txBox="1"/>
            <p:nvPr/>
          </p:nvSpPr>
          <p:spPr>
            <a:xfrm>
              <a:off x="190500" y="142875"/>
              <a:ext cx="4953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210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גישה למשתנים</a:t>
              </a:r>
            </a:p>
            <a:p>
              <a:pPr marL="0" lvl="0" indent="0" algn="r" rtl="1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he-IL" sz="16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שימוש בסימן </a:t>
              </a:r>
              <a:r>
                <a:rPr lang="he-IL" sz="1600" b="0" noProof="0" dirty="0">
                  <a:solidFill>
                    <a:srgbClr val="2C3E50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$</a:t>
              </a:r>
              <a:r>
                <a:rPr lang="he-IL" sz="16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כדי לקבל את ערך המשתנה.</a:t>
              </a:r>
            </a:p>
          </p:txBody>
        </p:sp>
      </p:grpSp>
      <p:grpSp>
        <p:nvGrpSpPr>
          <p:cNvPr id="153" name="Google Shape;153;p18"/>
          <p:cNvGrpSpPr/>
          <p:nvPr/>
        </p:nvGrpSpPr>
        <p:grpSpPr>
          <a:xfrm>
            <a:off x="6286500" y="4191000"/>
            <a:ext cx="5334000" cy="1333500"/>
            <a:chOff x="0" y="0"/>
            <a:chExt cx="5334000" cy="1333500"/>
          </a:xfrm>
        </p:grpSpPr>
        <p:sp>
          <p:nvSpPr>
            <p:cNvPr id="154" name="Google Shape;154;p18"/>
            <p:cNvSpPr/>
            <p:nvPr/>
          </p:nvSpPr>
          <p:spPr>
            <a:xfrm>
              <a:off x="0" y="0"/>
              <a:ext cx="5334000" cy="1333500"/>
            </a:xfrm>
            <a:prstGeom prst="roundRect">
              <a:avLst>
                <a:gd name="adj" fmla="val 7142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155" name="Google Shape;155;p18"/>
            <p:cNvSpPr txBox="1"/>
            <p:nvPr/>
          </p:nvSpPr>
          <p:spPr>
            <a:xfrm>
              <a:off x="190500" y="142875"/>
              <a:ext cx="4953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210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סוגריים ותחביר</a:t>
              </a:r>
            </a:p>
            <a:p>
              <a:pPr marL="0" lvl="0" indent="0" algn="r" rtl="1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he-IL" sz="16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סוגריים מרובעים </a:t>
              </a:r>
              <a:r>
                <a:rPr lang="he-IL" sz="1600" b="0" noProof="0" dirty="0">
                  <a:solidFill>
                    <a:srgbClr val="2C3E50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[]</a:t>
              </a:r>
              <a:r>
                <a:rPr lang="he-IL" sz="16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לביצוע פקודה מקוננת (שזה מחזיר את הערך של מה שיש בפנים בסוף). סוגריים מסולסלים </a:t>
              </a:r>
              <a:r>
                <a:rPr lang="he-IL" sz="1600" b="0" noProof="0" dirty="0">
                  <a:solidFill>
                    <a:srgbClr val="2C3E50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{}</a:t>
              </a:r>
              <a:r>
                <a:rPr lang="he-IL" sz="16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לבלוקים של קוד.</a:t>
              </a:r>
            </a:p>
          </p:txBody>
        </p:sp>
      </p:grpSp>
      <p:pic>
        <p:nvPicPr>
          <p:cNvPr id="3" name="תמונה 2">
            <a:extLst>
              <a:ext uri="{FF2B5EF4-FFF2-40B4-BE49-F238E27FC236}">
                <a16:creationId xmlns:a16="http://schemas.microsoft.com/office/drawing/2014/main" id="{EB552B8A-4025-7998-104F-AC810CE206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765699"/>
            <a:ext cx="5715000" cy="53266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559546"/>
            <a:ext cx="3492549" cy="2739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559546"/>
            <a:ext cx="3492549" cy="2739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351" y="2559546"/>
            <a:ext cx="3492549" cy="273903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קריטריונים להערכה - א'</a:t>
            </a:r>
            <a:endParaRPr lang="he-IL" noProof="0" dirty="0"/>
          </a:p>
        </p:txBody>
      </p:sp>
      <p:sp>
        <p:nvSpPr>
          <p:cNvPr id="167" name="Google Shape;167;p19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16975" y="2854821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8350675" y="3502521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Readability</a:t>
            </a:r>
            <a:endParaRPr lang="he-IL" noProof="0" dirty="0"/>
          </a:p>
        </p:txBody>
      </p:sp>
      <p:sp>
        <p:nvSpPr>
          <p:cNvPr id="170" name="Google Shape;170;p19"/>
          <p:cNvSpPr txBox="1"/>
          <p:nvPr/>
        </p:nvSpPr>
        <p:spPr>
          <a:xfrm>
            <a:off x="8423225" y="3997821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בינונית. הקוד נראה כטקסט פשוט, אך שימוש יתר בסוגריים { } ו-[ ] יוצר סרבול ויזואלי.</a:t>
            </a:r>
            <a:endParaRPr lang="he-IL" noProof="0" dirty="0"/>
          </a:p>
        </p:txBody>
      </p:sp>
      <p:pic>
        <p:nvPicPr>
          <p:cNvPr id="171" name="Google Shape;171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251" y="285482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4572375" y="3502521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Writability</a:t>
            </a:r>
            <a:endParaRPr lang="he-IL" noProof="0" dirty="0"/>
          </a:p>
        </p:txBody>
      </p:sp>
      <p:sp>
        <p:nvSpPr>
          <p:cNvPr id="173" name="Google Shape;173;p19"/>
          <p:cNvSpPr txBox="1"/>
          <p:nvPr/>
        </p:nvSpPr>
        <p:spPr>
          <a:xfrm>
            <a:off x="4644925" y="3997821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גבוהה מאוד. כתיבה תמציתית, אין צורך בהצהרות משתנים מורכבות או בטיפוסים קשיחים.</a:t>
            </a:r>
            <a:endParaRPr lang="he-IL" noProof="0" dirty="0"/>
          </a:p>
        </p:txBody>
      </p:sp>
      <p:pic>
        <p:nvPicPr>
          <p:cNvPr id="174" name="Google Shape;174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60376" y="2854821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794076" y="3502521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Orthogonality</a:t>
            </a:r>
            <a:endParaRPr lang="he-IL" noProof="0" dirty="0"/>
          </a:p>
        </p:txBody>
      </p:sp>
      <p:sp>
        <p:nvSpPr>
          <p:cNvPr id="176" name="Google Shape;176;p19"/>
          <p:cNvSpPr txBox="1"/>
          <p:nvPr/>
        </p:nvSpPr>
        <p:spPr>
          <a:xfrm>
            <a:off x="866626" y="3997821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גבוהה ביותר. כל דבר הוא פקודה וכל ערך הוא מחרוזת. חוקיות עקבית לאורך כל השפה.</a:t>
            </a:r>
            <a:endParaRPr lang="he-IL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7904" y="2559546"/>
            <a:ext cx="3492550" cy="2739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49604" y="2559546"/>
            <a:ext cx="3492550" cy="2739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קריטריונים להערכה - ב'</a:t>
            </a:r>
            <a:endParaRPr lang="he-IL" noProof="0" dirty="0"/>
          </a:p>
        </p:txBody>
      </p:sp>
      <p:sp>
        <p:nvSpPr>
          <p:cNvPr id="186" name="Google Shape;186;p20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45505" y="285482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6550630" y="3502521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Reliability</a:t>
            </a:r>
            <a:endParaRPr lang="he-IL" noProof="0" dirty="0"/>
          </a:p>
        </p:txBody>
      </p:sp>
      <p:sp>
        <p:nvSpPr>
          <p:cNvPr id="189" name="Google Shape;189;p20"/>
          <p:cNvSpPr txBox="1"/>
          <p:nvPr/>
        </p:nvSpPr>
        <p:spPr>
          <a:xfrm>
            <a:off x="6623180" y="3997821"/>
            <a:ext cx="290199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בינונית. היעדר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Static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Typing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מוביל לשגיאות שמתגלות רק בזמן ריצה.</a:t>
            </a:r>
            <a:endParaRPr lang="he-IL" noProof="0" dirty="0"/>
          </a:p>
        </p:txBody>
      </p:sp>
      <p:pic>
        <p:nvPicPr>
          <p:cNvPr id="190" name="Google Shape;190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67206" y="285482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2772330" y="3502521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Portability</a:t>
            </a:r>
            <a:endParaRPr lang="he-IL" noProof="0" dirty="0"/>
          </a:p>
        </p:txBody>
      </p:sp>
      <p:sp>
        <p:nvSpPr>
          <p:cNvPr id="192" name="Google Shape;192;p20"/>
          <p:cNvSpPr txBox="1"/>
          <p:nvPr/>
        </p:nvSpPr>
        <p:spPr>
          <a:xfrm>
            <a:off x="2844880" y="3997821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מצוינת. קוד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Tcl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רץ ללא שינוי על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Windows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,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Linux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ו-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macOS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בזכות המפרש.</a:t>
            </a:r>
            <a:endParaRPr lang="he-IL" noProof="0" dirty="0"/>
          </a:p>
        </p:txBody>
      </p:sp>
      <p:sp>
        <p:nvSpPr>
          <p:cNvPr id="195" name="Google Shape;195;p20"/>
          <p:cNvSpPr txBox="1"/>
          <p:nvPr/>
        </p:nvSpPr>
        <p:spPr>
          <a:xfrm>
            <a:off x="866626" y="3997821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he-IL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טיפוסי נתונים: "</a:t>
            </a:r>
            <a:r>
              <a:rPr lang="he-IL" sz="33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Everything</a:t>
            </a: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he-IL" sz="33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is</a:t>
            </a: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 a </a:t>
            </a:r>
            <a:r>
              <a:rPr lang="he-IL" sz="33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String</a:t>
            </a: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"</a:t>
            </a:r>
            <a:endParaRPr lang="he-IL" noProof="0" dirty="0"/>
          </a:p>
        </p:txBody>
      </p:sp>
      <p:sp>
        <p:nvSpPr>
          <p:cNvPr id="202" name="Google Shape;202;p21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571500" y="2225459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r" rtl="1">
              <a:lnSpc>
                <a:spcPct val="160000"/>
              </a:lnSpc>
            </a:pPr>
            <a:r>
              <a:rPr lang="he-IL" sz="1800" b="1" dirty="0">
                <a:latin typeface="Assistant" pitchFamily="2" charset="-79"/>
                <a:cs typeface="Assistant" pitchFamily="2" charset="-79"/>
              </a:rPr>
              <a:t>האתגר:</a:t>
            </a:r>
            <a:r>
              <a:rPr lang="he-IL" sz="1800" dirty="0">
                <a:latin typeface="Assistant" pitchFamily="2" charset="-79"/>
                <a:cs typeface="Assistant" pitchFamily="2" charset="-79"/>
              </a:rPr>
              <a:t> המודל של "</a:t>
            </a:r>
            <a:r>
              <a:rPr lang="he-IL" sz="1800" dirty="0" err="1">
                <a:latin typeface="Assistant" pitchFamily="2" charset="-79"/>
                <a:cs typeface="Assistant" pitchFamily="2" charset="-79"/>
              </a:rPr>
              <a:t>הכל</a:t>
            </a:r>
            <a:r>
              <a:rPr lang="he-IL" sz="1800" dirty="0">
                <a:latin typeface="Assistant" pitchFamily="2" charset="-79"/>
                <a:cs typeface="Assistant" pitchFamily="2" charset="-79"/>
              </a:rPr>
              <a:t> מחרוזת" נוח למשתמש, אך דרש המרות טקסט (</a:t>
            </a:r>
            <a:r>
              <a:rPr lang="he-IL" sz="1800" dirty="0" err="1">
                <a:latin typeface="Assistant" pitchFamily="2" charset="-79"/>
                <a:cs typeface="Assistant" pitchFamily="2" charset="-79"/>
              </a:rPr>
              <a:t>Parsing</a:t>
            </a:r>
            <a:r>
              <a:rPr lang="he-IL" sz="1800" dirty="0">
                <a:latin typeface="Assistant" pitchFamily="2" charset="-79"/>
                <a:cs typeface="Assistant" pitchFamily="2" charset="-79"/>
              </a:rPr>
              <a:t>) תכופות שהאטו משמעותית את זמן הריצה.</a:t>
            </a:r>
            <a:endParaRPr lang="he-IL" noProof="0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571500" y="2732070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r" rtl="1">
              <a:lnSpc>
                <a:spcPct val="160000"/>
              </a:lnSpc>
            </a:pPr>
            <a:r>
              <a:rPr lang="he-IL" sz="1800" b="1" dirty="0">
                <a:latin typeface="Assistant" pitchFamily="2" charset="-79"/>
                <a:cs typeface="Assistant" pitchFamily="2" charset="-79"/>
              </a:rPr>
              <a:t>הפתרון (</a:t>
            </a:r>
            <a:r>
              <a:rPr lang="he-IL" sz="1800" b="1" dirty="0" err="1">
                <a:latin typeface="Assistant" pitchFamily="2" charset="-79"/>
                <a:cs typeface="Assistant" pitchFamily="2" charset="-79"/>
              </a:rPr>
              <a:t>Tcl_Obj</a:t>
            </a:r>
            <a:r>
              <a:rPr lang="he-IL" sz="1800" b="1" dirty="0">
                <a:latin typeface="Assistant" pitchFamily="2" charset="-79"/>
                <a:cs typeface="Assistant" pitchFamily="2" charset="-79"/>
              </a:rPr>
              <a:t>):</a:t>
            </a:r>
            <a:r>
              <a:rPr lang="he-IL" sz="1800" dirty="0">
                <a:latin typeface="Assistant" pitchFamily="2" charset="-79"/>
                <a:cs typeface="Assistant" pitchFamily="2" charset="-79"/>
              </a:rPr>
              <a:t> החל מגרסה 8.0, כל משתנה מנוהל מאחורי הקלעים כמבנה נתונים חכם בעל תצוגה כפולה (</a:t>
            </a:r>
            <a:r>
              <a:rPr lang="he-IL" sz="1800" dirty="0" err="1">
                <a:latin typeface="Assistant" pitchFamily="2" charset="-79"/>
                <a:cs typeface="Assistant" pitchFamily="2" charset="-79"/>
              </a:rPr>
              <a:t>Dual-porting</a:t>
            </a:r>
            <a:r>
              <a:rPr lang="he-IL" sz="1800" dirty="0">
                <a:latin typeface="Assistant" pitchFamily="2" charset="-79"/>
                <a:cs typeface="Assistant" pitchFamily="2" charset="-79"/>
              </a:rPr>
              <a:t>).</a:t>
            </a:r>
            <a:endParaRPr lang="he-IL" noProof="0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571500" y="3238681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r" rtl="1">
              <a:lnSpc>
                <a:spcPct val="160000"/>
              </a:lnSpc>
            </a:pPr>
            <a:r>
              <a:rPr lang="he-IL" sz="1800" b="1" dirty="0">
                <a:latin typeface="Assistant" pitchFamily="2" charset="-79"/>
                <a:cs typeface="Assistant" pitchFamily="2" charset="-79"/>
              </a:rPr>
              <a:t>ייצוג כפול:</a:t>
            </a:r>
            <a:r>
              <a:rPr lang="he-IL" sz="1800" dirty="0">
                <a:latin typeface="Assistant" pitchFamily="2" charset="-79"/>
                <a:cs typeface="Assistant" pitchFamily="2" charset="-79"/>
              </a:rPr>
              <a:t> המבנה שומר במקביל את הייצוג </a:t>
            </a:r>
            <a:r>
              <a:rPr lang="he-IL" sz="1800" dirty="0" err="1">
                <a:latin typeface="Assistant" pitchFamily="2" charset="-79"/>
                <a:cs typeface="Assistant" pitchFamily="2" charset="-79"/>
              </a:rPr>
              <a:t>המחרוזתי</a:t>
            </a:r>
            <a:r>
              <a:rPr lang="he-IL" sz="1800" dirty="0">
                <a:latin typeface="Assistant" pitchFamily="2" charset="-79"/>
                <a:cs typeface="Assistant" pitchFamily="2" charset="-79"/>
              </a:rPr>
              <a:t>, ולצידו ייצוג פנימי בינארי ויעיל למעבד (למשל כמספר </a:t>
            </a:r>
            <a:r>
              <a:rPr lang="he-IL" sz="1800" dirty="0" err="1">
                <a:latin typeface="Assistant" pitchFamily="2" charset="-79"/>
                <a:cs typeface="Assistant" pitchFamily="2" charset="-79"/>
              </a:rPr>
              <a:t>int</a:t>
            </a:r>
            <a:r>
              <a:rPr lang="he-IL" sz="1800" dirty="0">
                <a:latin typeface="Assistant" pitchFamily="2" charset="-79"/>
                <a:cs typeface="Assistant" pitchFamily="2" charset="-79"/>
              </a:rPr>
              <a:t> או כמערך מצביעים ב-C).</a:t>
            </a:r>
            <a:endParaRPr lang="he-IL" sz="1800" noProof="0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571500" y="4078849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r" rtl="1">
              <a:lnSpc>
                <a:spcPct val="160000"/>
              </a:lnSpc>
            </a:pPr>
            <a:r>
              <a:rPr lang="he-IL" sz="1800" b="1" dirty="0">
                <a:latin typeface="Assistant" pitchFamily="2" charset="-79"/>
                <a:cs typeface="Assistant" pitchFamily="2" charset="-79"/>
              </a:rPr>
              <a:t>המרה עצלה (</a:t>
            </a:r>
            <a:r>
              <a:rPr lang="he-IL" sz="1800" b="1" dirty="0" err="1">
                <a:latin typeface="Assistant" pitchFamily="2" charset="-79"/>
                <a:cs typeface="Assistant" pitchFamily="2" charset="-79"/>
              </a:rPr>
              <a:t>Lazy</a:t>
            </a:r>
            <a:r>
              <a:rPr lang="he-IL" sz="1800" b="1" dirty="0"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1800" b="1" dirty="0" err="1">
                <a:latin typeface="Assistant" pitchFamily="2" charset="-79"/>
                <a:cs typeface="Assistant" pitchFamily="2" charset="-79"/>
              </a:rPr>
              <a:t>Evaluation</a:t>
            </a:r>
            <a:r>
              <a:rPr lang="he-IL" sz="1800" b="1" dirty="0">
                <a:latin typeface="Assistant" pitchFamily="2" charset="-79"/>
                <a:cs typeface="Assistant" pitchFamily="2" charset="-79"/>
              </a:rPr>
              <a:t>):</a:t>
            </a:r>
            <a:r>
              <a:rPr lang="he-IL" sz="1800" dirty="0">
                <a:latin typeface="Assistant" pitchFamily="2" charset="-79"/>
                <a:cs typeface="Assistant" pitchFamily="2" charset="-79"/>
              </a:rPr>
              <a:t> המנוע עובד תמיד עם הייצוג הפנימי המהיר, ומחשב את הייצוג </a:t>
            </a:r>
            <a:r>
              <a:rPr lang="he-IL" sz="1800" dirty="0" err="1">
                <a:latin typeface="Assistant" pitchFamily="2" charset="-79"/>
                <a:cs typeface="Assistant" pitchFamily="2" charset="-79"/>
              </a:rPr>
              <a:t>המחרוזתי</a:t>
            </a:r>
            <a:r>
              <a:rPr lang="he-IL" sz="1800" dirty="0">
                <a:latin typeface="Assistant" pitchFamily="2" charset="-79"/>
                <a:cs typeface="Assistant" pitchFamily="2" charset="-79"/>
              </a:rPr>
              <a:t> מחדש רק כשחובה (למשל בהדפסה למסך).</a:t>
            </a:r>
            <a:endParaRPr lang="he-IL" sz="1800" noProof="0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571500" y="4982279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r" rtl="1">
              <a:lnSpc>
                <a:spcPct val="160000"/>
              </a:lnSpc>
            </a:pP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 pitchFamily="2" charset="-79"/>
                <a:ea typeface="Assistant"/>
                <a:cs typeface="Assistant" pitchFamily="2" charset="-79"/>
                <a:sym typeface="Assistant"/>
              </a:rPr>
              <a:t>.</a:t>
            </a:r>
            <a:r>
              <a:rPr lang="he-IL" sz="1800" b="1" dirty="0">
                <a:latin typeface="Assistant" pitchFamily="2" charset="-79"/>
                <a:cs typeface="Assistant" pitchFamily="2" charset="-79"/>
              </a:rPr>
              <a:t> השורה התחתונה:</a:t>
            </a:r>
            <a:r>
              <a:rPr lang="he-IL" sz="1800" dirty="0">
                <a:latin typeface="Assistant" pitchFamily="2" charset="-79"/>
                <a:cs typeface="Assistant" pitchFamily="2" charset="-79"/>
              </a:rPr>
              <a:t> המנגנון מאפשר לשפה לרשום זינוק אדיר בביצועים, תוך שמירה מלאה על אשליית ה"הכל מחרוזת" כלפי המפתח.</a:t>
            </a:r>
            <a:endParaRPr lang="he-IL" sz="1800" noProof="0" dirty="0"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208" name="Google Shape;20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237623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339468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288911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4218118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5121548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750046"/>
            <a:ext cx="5334000" cy="1737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50046"/>
            <a:ext cx="5334000" cy="173712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מנגנון הטיפוסים</a:t>
            </a:r>
            <a:endParaRPr lang="he-IL" noProof="0" dirty="0"/>
          </a:p>
        </p:txBody>
      </p:sp>
      <p:sp>
        <p:nvSpPr>
          <p:cNvPr id="221" name="Google Shape;221;p22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571500" y="4772917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he-IL" noProof="0" dirty="0"/>
          </a:p>
        </p:txBody>
      </p:sp>
      <p:sp>
        <p:nvSpPr>
          <p:cNvPr id="223" name="Google Shape;223;p22"/>
          <p:cNvSpPr txBox="1"/>
          <p:nvPr/>
        </p:nvSpPr>
        <p:spPr>
          <a:xfrm>
            <a:off x="6572250" y="3035796"/>
            <a:ext cx="500062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Dynamic</a:t>
            </a:r>
            <a:r>
              <a:rPr lang="he-IL" sz="21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&amp; </a:t>
            </a: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Weak</a:t>
            </a:r>
            <a:endParaRPr lang="he-IL" noProof="0" dirty="0"/>
          </a:p>
        </p:txBody>
      </p:sp>
      <p:sp>
        <p:nvSpPr>
          <p:cNvPr id="224" name="Google Shape;224;p22"/>
          <p:cNvSpPr txBox="1"/>
          <p:nvPr/>
        </p:nvSpPr>
        <p:spPr>
          <a:xfrm>
            <a:off x="6572250" y="3531096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טיפוס המשתנה נקבע בזמן ריצה. השפה מבצעת המרות אוטומטיות (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Implicit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casting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 בין מספרים למחרוזות.</a:t>
            </a:r>
            <a:endParaRPr lang="he-IL" noProof="0" dirty="0"/>
          </a:p>
        </p:txBody>
      </p:sp>
      <p:sp>
        <p:nvSpPr>
          <p:cNvPr id="225" name="Google Shape;225;p22"/>
          <p:cNvSpPr txBox="1"/>
          <p:nvPr/>
        </p:nvSpPr>
        <p:spPr>
          <a:xfrm>
            <a:off x="857250" y="3035796"/>
            <a:ext cx="500062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Duck</a:t>
            </a:r>
            <a:r>
              <a:rPr lang="he-IL" sz="21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Typing</a:t>
            </a:r>
            <a:endParaRPr lang="he-IL" noProof="0" dirty="0"/>
          </a:p>
        </p:txBody>
      </p:sp>
      <p:sp>
        <p:nvSpPr>
          <p:cNvPr id="226" name="Google Shape;226;p22"/>
          <p:cNvSpPr txBox="1"/>
          <p:nvPr/>
        </p:nvSpPr>
        <p:spPr>
          <a:xfrm>
            <a:off x="857250" y="3531096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אם זה נראה כמו רשימה ומתנהג כמו רשימה - זו רשימה. פקודות מנסות לפרש כל מחרוזת לפי המבנה המבוקש.</a:t>
            </a:r>
            <a:endParaRPr lang="he-IL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13099"/>
            <a:ext cx="5334000" cy="303192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מצביעים וניהול זיכרון</a:t>
            </a:r>
            <a:endParaRPr lang="he-IL" noProof="0" dirty="0"/>
          </a:p>
        </p:txBody>
      </p:sp>
      <p:sp>
        <p:nvSpPr>
          <p:cNvPr id="234" name="Google Shape;234;p23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6286500" y="2413099"/>
            <a:ext cx="50006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אין מצביעים ישירים: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בדומה ל-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Python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, אין גישה ישירה לכתובות זיכרון.</a:t>
            </a:r>
            <a:endParaRPr lang="he-IL" noProof="0" dirty="0"/>
          </a:p>
        </p:txBody>
      </p:sp>
      <p:sp>
        <p:nvSpPr>
          <p:cNvPr id="236" name="Google Shape;236;p23"/>
          <p:cNvSpPr txBox="1"/>
          <p:nvPr/>
        </p:nvSpPr>
        <p:spPr>
          <a:xfrm>
            <a:off x="6286500" y="3254871"/>
            <a:ext cx="50006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he-IL" noProof="0" dirty="0"/>
          </a:p>
        </p:txBody>
      </p:sp>
      <p:sp>
        <p:nvSpPr>
          <p:cNvPr id="237" name="Google Shape;237;p23"/>
          <p:cNvSpPr txBox="1"/>
          <p:nvPr/>
        </p:nvSpPr>
        <p:spPr>
          <a:xfrm>
            <a:off x="6286500" y="3268501"/>
            <a:ext cx="50007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Copy-on-Write</a:t>
            </a:r>
            <a:r>
              <a:rPr lang="he-IL" sz="1650" b="1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- </a:t>
            </a:r>
            <a:r>
              <a:rPr lang="he-IL" sz="1650" b="1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Cow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אובייקטים מועברים כהפניות, ומשוכפלים רק בעת שינוי.</a:t>
            </a:r>
            <a:endParaRPr lang="he-IL" noProof="0" dirty="0"/>
          </a:p>
        </p:txBody>
      </p:sp>
      <p:sp>
        <p:nvSpPr>
          <p:cNvPr id="238" name="Google Shape;238;p23"/>
          <p:cNvSpPr txBox="1"/>
          <p:nvPr/>
        </p:nvSpPr>
        <p:spPr>
          <a:xfrm>
            <a:off x="6286500" y="4110273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העברה "ערכית" למראית עין, אך יעילה מאוד מבחינת ביצועים.</a:t>
            </a:r>
            <a:endParaRPr lang="he-IL" noProof="0" dirty="0"/>
          </a:p>
        </p:txBody>
      </p:sp>
      <p:pic>
        <p:nvPicPr>
          <p:cNvPr id="239" name="Google Shape;23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77625" y="2500609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77625" y="335601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77625" y="4197783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8272" y="1012055"/>
            <a:ext cx="5521553" cy="4873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טווח הכרה (</a:t>
            </a:r>
            <a:r>
              <a:rPr lang="he-IL" sz="33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Scope</a:t>
            </a: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)</a:t>
            </a:r>
            <a:endParaRPr lang="he-IL" noProof="0" dirty="0"/>
          </a:p>
        </p:txBody>
      </p:sp>
      <p:sp>
        <p:nvSpPr>
          <p:cNvPr id="250" name="Google Shape;250;p24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2986" y="1908699"/>
            <a:ext cx="2081814" cy="251953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1313895" y="4523481"/>
            <a:ext cx="3630967" cy="883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2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Lexical</a:t>
            </a:r>
            <a:r>
              <a:rPr lang="he-IL" sz="32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32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Scope</a:t>
            </a:r>
            <a:endParaRPr lang="he-IL" sz="2800" noProof="0" dirty="0"/>
          </a:p>
        </p:txBody>
      </p:sp>
      <p:sp>
        <p:nvSpPr>
          <p:cNvPr id="253" name="Google Shape;253;p24"/>
          <p:cNvSpPr txBox="1"/>
          <p:nvPr/>
        </p:nvSpPr>
        <p:spPr>
          <a:xfrm>
            <a:off x="4686300" y="2915840"/>
            <a:ext cx="6600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Static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/</a:t>
            </a: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Lexical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Scope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כברירת מחדל, משתנים בתוך פרוצדורה הם מקומיים.</a:t>
            </a:r>
            <a:endParaRPr lang="he-IL" noProof="0" dirty="0"/>
          </a:p>
        </p:txBody>
      </p:sp>
      <p:sp>
        <p:nvSpPr>
          <p:cNvPr id="254" name="Google Shape;254;p24"/>
          <p:cNvSpPr txBox="1"/>
          <p:nvPr/>
        </p:nvSpPr>
        <p:spPr>
          <a:xfrm>
            <a:off x="4686300" y="3422451"/>
            <a:ext cx="6600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Namespaces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מאפשרים בידוד של משתנים ופונקציות ברמת המודול.</a:t>
            </a:r>
            <a:endParaRPr lang="he-IL" noProof="0" dirty="0"/>
          </a:p>
        </p:txBody>
      </p:sp>
      <p:sp>
        <p:nvSpPr>
          <p:cNvPr id="255" name="Google Shape;255;p24"/>
          <p:cNvSpPr txBox="1"/>
          <p:nvPr/>
        </p:nvSpPr>
        <p:spPr>
          <a:xfrm>
            <a:off x="4686300" y="3929062"/>
            <a:ext cx="6600825" cy="125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upvar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&amp; </a:t>
            </a: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uplevel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מאפשרים גישה ל-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Scope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של הפונקציה הקוראת</a:t>
            </a:r>
            <a:r>
              <a:rPr lang="he-IL" sz="165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                      </a:t>
            </a:r>
            <a:r>
              <a:rPr lang="en-US" sz="1650" b="1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upvar</a:t>
            </a:r>
            <a:r>
              <a:rPr lang="he-IL" sz="165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ניגש לסקופ של מחסנית גבוהה יותר, ומעתיק משתנים </a:t>
            </a:r>
            <a:r>
              <a:rPr lang="en-US" sz="165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by reference</a:t>
            </a:r>
            <a:r>
              <a:rPr lang="he-IL" sz="165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                             </a:t>
            </a:r>
            <a:r>
              <a:rPr lang="en-US" sz="1650" b="1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Uplevel</a:t>
            </a:r>
            <a:r>
              <a:rPr lang="he-IL" sz="1650" b="1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מעתיק בלוק קוד שלם, ומפעיל אותו כאילו הוא נכתב פה.</a:t>
            </a:r>
          </a:p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he-IL" noProof="0" dirty="0"/>
          </a:p>
        </p:txBody>
      </p:sp>
      <p:pic>
        <p:nvPicPr>
          <p:cNvPr id="257" name="Google Shape;25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53622" y="3003649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53622" y="351026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53622" y="4016871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86523" y="2035343"/>
            <a:ext cx="3719374" cy="3444536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40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Garbage</a:t>
            </a:r>
            <a:r>
              <a:rPr lang="he-IL" sz="40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he-IL" sz="40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Collection</a:t>
            </a:r>
            <a:endParaRPr lang="he-IL" sz="1800" noProof="0" dirty="0"/>
          </a:p>
        </p:txBody>
      </p:sp>
      <p:sp>
        <p:nvSpPr>
          <p:cNvPr id="268" name="Google Shape;268;p25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 txBox="1"/>
          <p:nvPr/>
        </p:nvSpPr>
        <p:spPr>
          <a:xfrm>
            <a:off x="571499" y="1863460"/>
            <a:ext cx="5357813" cy="568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8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Reference</a:t>
            </a:r>
            <a:r>
              <a:rPr lang="he-IL" sz="28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28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Counting</a:t>
            </a:r>
            <a:endParaRPr lang="he-IL" sz="1800" noProof="0" dirty="0"/>
          </a:p>
        </p:txBody>
      </p:sp>
      <p:sp>
        <p:nvSpPr>
          <p:cNvPr id="270" name="Google Shape;270;p25"/>
          <p:cNvSpPr txBox="1"/>
          <p:nvPr/>
        </p:nvSpPr>
        <p:spPr>
          <a:xfrm>
            <a:off x="571500" y="3104654"/>
            <a:ext cx="5000625" cy="39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r" rtl="1">
              <a:lnSpc>
                <a:spcPct val="160000"/>
              </a:lnSpc>
            </a:pPr>
            <a:r>
              <a:rPr lang="he-IL" sz="1600" dirty="0" err="1"/>
              <a:t>Tcl_Obj</a:t>
            </a:r>
            <a:r>
              <a:rPr lang="he-IL" sz="1600" dirty="0"/>
              <a:t>: כל נתון עטוף במבנה פנימי זה.</a:t>
            </a:r>
            <a:endParaRPr lang="he-IL" sz="1200" noProof="0" dirty="0"/>
          </a:p>
        </p:txBody>
      </p:sp>
      <p:sp>
        <p:nvSpPr>
          <p:cNvPr id="271" name="Google Shape;271;p25"/>
          <p:cNvSpPr txBox="1"/>
          <p:nvPr/>
        </p:nvSpPr>
        <p:spPr>
          <a:xfrm>
            <a:off x="571500" y="3670101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r" rtl="1">
              <a:lnSpc>
                <a:spcPct val="160000"/>
              </a:lnSpc>
            </a:pPr>
            <a:r>
              <a:rPr lang="he-IL" sz="1600" dirty="0"/>
              <a:t>ספירת הפניות: כשהמונה מגיע ל-0, הזיכרון משוחרר מיידית.</a:t>
            </a:r>
            <a:endParaRPr lang="he-IL" sz="1200" noProof="0" dirty="0"/>
          </a:p>
        </p:txBody>
      </p:sp>
      <p:sp>
        <p:nvSpPr>
          <p:cNvPr id="272" name="Google Shape;272;p25"/>
          <p:cNvSpPr txBox="1"/>
          <p:nvPr/>
        </p:nvSpPr>
        <p:spPr>
          <a:xfrm>
            <a:off x="571500" y="4176712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r" rtl="1">
              <a:lnSpc>
                <a:spcPct val="160000"/>
              </a:lnSpc>
            </a:pPr>
            <a:r>
              <a:rPr lang="he-IL" sz="1600" dirty="0"/>
              <a:t>היתרון: ניהול דטרמיניסטי המונע עצירות (</a:t>
            </a:r>
            <a:r>
              <a:rPr lang="he-IL" sz="1600" dirty="0" err="1"/>
              <a:t>Pauses</a:t>
            </a:r>
            <a:r>
              <a:rPr lang="he-IL" sz="1600" dirty="0"/>
              <a:t>) בתוכנית.</a:t>
            </a:r>
            <a:endParaRPr lang="he-IL" sz="1200" noProof="0" dirty="0"/>
          </a:p>
        </p:txBody>
      </p:sp>
      <p:sp>
        <p:nvSpPr>
          <p:cNvPr id="273" name="Google Shape;273;p25"/>
          <p:cNvSpPr txBox="1"/>
          <p:nvPr/>
        </p:nvSpPr>
        <p:spPr>
          <a:xfrm>
            <a:off x="571500" y="4683323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r" rtl="1">
              <a:lnSpc>
                <a:spcPct val="160000"/>
              </a:lnSpc>
            </a:pPr>
            <a:r>
              <a:rPr lang="he-IL" sz="1600" dirty="0"/>
              <a:t>החיסרון: </a:t>
            </a:r>
            <a:r>
              <a:rPr lang="he-IL" sz="1600" dirty="0" err="1"/>
              <a:t>תקורת</a:t>
            </a:r>
            <a:r>
              <a:rPr lang="he-IL" sz="1600" dirty="0"/>
              <a:t> ביצועים וקושי עם הפניות מעגליות.</a:t>
            </a:r>
            <a:endParaRPr lang="he-IL" sz="1200" noProof="0" dirty="0"/>
          </a:p>
        </p:txBody>
      </p:sp>
      <p:pic>
        <p:nvPicPr>
          <p:cNvPr id="274" name="Google Shape;274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86437" y="325100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86437" y="375761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86437" y="426422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86437" y="4770833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760B5CA5-F9AA-963F-7C16-572DF0EDFF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2995" y="2789604"/>
            <a:ext cx="146317" cy="249958"/>
          </a:xfrm>
          <a:prstGeom prst="rect">
            <a:avLst/>
          </a:prstGeom>
        </p:spPr>
      </p:pic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9911A89D-9F14-3065-0235-B4AE8FA9AA0B}"/>
              </a:ext>
            </a:extLst>
          </p:cNvPr>
          <p:cNvSpPr txBox="1"/>
          <p:nvPr/>
        </p:nvSpPr>
        <p:spPr>
          <a:xfrm>
            <a:off x="0" y="2603270"/>
            <a:ext cx="5663953" cy="43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lnSpc>
                <a:spcPct val="160000"/>
              </a:lnSpc>
            </a:pPr>
            <a:r>
              <a:rPr lang="he-IL" sz="1600" dirty="0"/>
              <a:t>ההבדל משפות עיליות אחרות: שחרור זיכרון רציף, ללא תהליכי רקע.</a:t>
            </a:r>
            <a:endParaRPr lang="he-IL" sz="16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6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פונקציות וביצועים</a:t>
            </a:r>
            <a:endParaRPr lang="he-IL" noProof="0" dirty="0"/>
          </a:p>
        </p:txBody>
      </p:sp>
      <p:sp>
        <p:nvSpPr>
          <p:cNvPr id="284" name="Google Shape;284;p26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6"/>
          <p:cNvSpPr txBox="1"/>
          <p:nvPr/>
        </p:nvSpPr>
        <p:spPr>
          <a:xfrm>
            <a:off x="7305675" y="2580679"/>
            <a:ext cx="39814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הגדרה בעזרת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proc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lang="he-IL" noProof="0" dirty="0"/>
          </a:p>
        </p:txBody>
      </p:sp>
      <p:sp>
        <p:nvSpPr>
          <p:cNvPr id="286" name="Google Shape;286;p26"/>
          <p:cNvSpPr txBox="1"/>
          <p:nvPr/>
        </p:nvSpPr>
        <p:spPr>
          <a:xfrm>
            <a:off x="7305675" y="3087290"/>
            <a:ext cx="39814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Tail-call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פקודת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tailcall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מאפשרת רקורסיה בזיכרון קבוע (</a:t>
            </a:r>
            <a:r>
              <a:rPr lang="he-IL" sz="165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1)O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lang="he-IL" noProof="0" dirty="0"/>
          </a:p>
        </p:txBody>
      </p:sp>
      <p:sp>
        <p:nvSpPr>
          <p:cNvPr id="287" name="Google Shape;287;p26"/>
          <p:cNvSpPr txBox="1"/>
          <p:nvPr/>
        </p:nvSpPr>
        <p:spPr>
          <a:xfrm>
            <a:off x="7305675" y="3929062"/>
            <a:ext cx="39814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First-class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functions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שמות פונקציות מועברים כמחרוזות ומופעלים דינמית.</a:t>
            </a:r>
            <a:endParaRPr lang="he-IL" noProof="0" dirty="0"/>
          </a:p>
        </p:txBody>
      </p:sp>
      <p:sp>
        <p:nvSpPr>
          <p:cNvPr id="288" name="Google Shape;288;p26"/>
          <p:cNvSpPr txBox="1"/>
          <p:nvPr/>
        </p:nvSpPr>
        <p:spPr>
          <a:xfrm>
            <a:off x="7305675" y="4770834"/>
            <a:ext cx="39814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תמיכה ב-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Lambda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דרך פקודת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apply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lang="he-IL" noProof="0" dirty="0"/>
          </a:p>
        </p:txBody>
      </p:sp>
      <p:pic>
        <p:nvPicPr>
          <p:cNvPr id="289" name="Google Shape;289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2668189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317480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401657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4858344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13DED9B8-9C0C-1106-1338-75E39FFFD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5" y="1854928"/>
            <a:ext cx="6890802" cy="40228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27"/>
          <p:cNvGrpSpPr/>
          <p:nvPr/>
        </p:nvGrpSpPr>
        <p:grpSpPr>
          <a:xfrm>
            <a:off x="28575" y="571500"/>
            <a:ext cx="11592075" cy="619200"/>
            <a:chOff x="28575" y="571500"/>
            <a:chExt cx="11592075" cy="619200"/>
          </a:xfrm>
        </p:grpSpPr>
        <p:sp>
          <p:nvSpPr>
            <p:cNvPr id="300" name="Google Shape;300;p27"/>
            <p:cNvSpPr/>
            <p:nvPr/>
          </p:nvSpPr>
          <p:spPr>
            <a:xfrm>
              <a:off x="28575" y="571500"/>
              <a:ext cx="11401500" cy="6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301" name="Google Shape;301;p27"/>
            <p:cNvSpPr txBox="1"/>
            <p:nvPr/>
          </p:nvSpPr>
          <p:spPr>
            <a:xfrm>
              <a:off x="28575" y="571500"/>
              <a:ext cx="11401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3300" b="1" noProof="0" dirty="0" err="1">
                  <a:solidFill>
                    <a:srgbClr val="003366"/>
                  </a:solidFill>
                  <a:latin typeface="Heebo"/>
                  <a:ea typeface="Heebo"/>
                  <a:cs typeface="Heebo"/>
                  <a:sym typeface="Heebo"/>
                </a:rPr>
                <a:t>Tcl</a:t>
              </a:r>
              <a:r>
                <a:rPr lang="he-IL" sz="3300" b="1" noProof="0" dirty="0">
                  <a:solidFill>
                    <a:srgbClr val="003366"/>
                  </a:solidFill>
                  <a:latin typeface="Heebo"/>
                  <a:ea typeface="Heebo"/>
                  <a:cs typeface="Heebo"/>
                  <a:sym typeface="Heebo"/>
                </a:rPr>
                <a:t> בהשוואה לשפות </a:t>
              </a:r>
              <a:r>
                <a:rPr lang="he-IL" sz="3300" b="1" noProof="0" dirty="0" err="1">
                  <a:solidFill>
                    <a:srgbClr val="003366"/>
                  </a:solidFill>
                  <a:latin typeface="Heebo"/>
                  <a:ea typeface="Heebo"/>
                  <a:cs typeface="Heebo"/>
                  <a:sym typeface="Heebo"/>
                </a:rPr>
                <a:t>סקריפטינג</a:t>
              </a:r>
              <a:r>
                <a:rPr lang="he-IL" sz="3300" b="1" noProof="0" dirty="0">
                  <a:solidFill>
                    <a:srgbClr val="003366"/>
                  </a:solidFill>
                  <a:latin typeface="Heebo"/>
                  <a:ea typeface="Heebo"/>
                  <a:cs typeface="Heebo"/>
                  <a:sym typeface="Heebo"/>
                </a:rPr>
                <a:t> אחרות</a:t>
              </a:r>
            </a:p>
          </p:txBody>
        </p:sp>
        <p:sp>
          <p:nvSpPr>
            <p:cNvPr id="302" name="Google Shape;302;p27"/>
            <p:cNvSpPr/>
            <p:nvPr/>
          </p:nvSpPr>
          <p:spPr>
            <a:xfrm>
              <a:off x="11563350" y="571500"/>
              <a:ext cx="57300" cy="6192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</p:grpSp>
      <p:grpSp>
        <p:nvGrpSpPr>
          <p:cNvPr id="303" name="Google Shape;303;p27"/>
          <p:cNvGrpSpPr/>
          <p:nvPr/>
        </p:nvGrpSpPr>
        <p:grpSpPr>
          <a:xfrm>
            <a:off x="571500" y="1714500"/>
            <a:ext cx="11049000" cy="571500"/>
            <a:chOff x="571500" y="1714500"/>
            <a:chExt cx="11049000" cy="571500"/>
          </a:xfrm>
        </p:grpSpPr>
        <p:sp>
          <p:nvSpPr>
            <p:cNvPr id="304" name="Google Shape;304;p27"/>
            <p:cNvSpPr/>
            <p:nvPr/>
          </p:nvSpPr>
          <p:spPr>
            <a:xfrm>
              <a:off x="571500" y="1714500"/>
              <a:ext cx="11049000" cy="571500"/>
            </a:xfrm>
            <a:prstGeom prst="roundRect">
              <a:avLst>
                <a:gd name="adj" fmla="val 13333"/>
              </a:avLst>
            </a:prstGeom>
            <a:solidFill>
              <a:srgbClr val="00336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305" name="Google Shape;305;p27"/>
            <p:cNvSpPr txBox="1"/>
            <p:nvPr/>
          </p:nvSpPr>
          <p:spPr>
            <a:xfrm>
              <a:off x="2667000" y="1714500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800" b="1" noProof="0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Tcl</a:t>
              </a:r>
              <a:endParaRPr lang="he-IL" sz="1800" b="1" noProof="0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06" name="Google Shape;306;p27"/>
            <p:cNvSpPr txBox="1"/>
            <p:nvPr/>
          </p:nvSpPr>
          <p:spPr>
            <a:xfrm>
              <a:off x="5810250" y="1714500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800" b="1" noProof="0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Python</a:t>
              </a:r>
              <a:endParaRPr lang="he-IL" sz="1800" b="1" noProof="0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07" name="Google Shape;307;p27"/>
            <p:cNvSpPr txBox="1"/>
            <p:nvPr/>
          </p:nvSpPr>
          <p:spPr>
            <a:xfrm>
              <a:off x="8953500" y="1714500"/>
              <a:ext cx="238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800" b="1" noProof="0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JavaScript</a:t>
              </a:r>
              <a:r>
                <a:rPr lang="he-IL" sz="1800" b="1" noProof="0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</a:p>
          </p:txBody>
        </p:sp>
      </p:grpSp>
      <p:grpSp>
        <p:nvGrpSpPr>
          <p:cNvPr id="308" name="Google Shape;308;p27"/>
          <p:cNvGrpSpPr/>
          <p:nvPr/>
        </p:nvGrpSpPr>
        <p:grpSpPr>
          <a:xfrm>
            <a:off x="571500" y="2381250"/>
            <a:ext cx="11049000" cy="762000"/>
            <a:chOff x="571500" y="2381250"/>
            <a:chExt cx="11049000" cy="762000"/>
          </a:xfrm>
        </p:grpSpPr>
        <p:sp>
          <p:nvSpPr>
            <p:cNvPr id="309" name="Google Shape;309;p27"/>
            <p:cNvSpPr/>
            <p:nvPr/>
          </p:nvSpPr>
          <p:spPr>
            <a:xfrm>
              <a:off x="571500" y="2381250"/>
              <a:ext cx="11049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310" name="Google Shape;310;p27"/>
            <p:cNvSpPr txBox="1"/>
            <p:nvPr/>
          </p:nvSpPr>
          <p:spPr>
            <a:xfrm>
              <a:off x="762000" y="2381250"/>
              <a:ext cx="171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60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מנגנון טיפוסים</a:t>
              </a:r>
            </a:p>
          </p:txBody>
        </p:sp>
        <p:sp>
          <p:nvSpPr>
            <p:cNvPr id="311" name="Google Shape;311;p27"/>
            <p:cNvSpPr txBox="1"/>
            <p:nvPr/>
          </p:nvSpPr>
          <p:spPr>
            <a:xfrm>
              <a:off x="2667000" y="238125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5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Weak</a:t>
              </a: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&amp; </a:t>
              </a:r>
              <a:r>
                <a:rPr lang="he-IL" sz="15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Dynamic</a:t>
              </a: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endParaRPr lang="he-IL" sz="15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12" name="Google Shape;312;p27"/>
            <p:cNvSpPr txBox="1"/>
            <p:nvPr/>
          </p:nvSpPr>
          <p:spPr>
            <a:xfrm>
              <a:off x="5810250" y="238125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50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Strong</a:t>
              </a:r>
              <a:r>
                <a:rPr lang="he-IL" sz="15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&amp; </a:t>
              </a:r>
              <a:r>
                <a:rPr lang="he-IL" sz="150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Dynamic</a:t>
              </a:r>
              <a:endParaRPr lang="he-IL" sz="15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13" name="Google Shape;313;p27"/>
            <p:cNvSpPr txBox="1"/>
            <p:nvPr/>
          </p:nvSpPr>
          <p:spPr>
            <a:xfrm>
              <a:off x="8953500" y="2381250"/>
              <a:ext cx="238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5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Weak</a:t>
              </a: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&amp; </a:t>
              </a:r>
              <a:r>
                <a:rPr lang="he-IL" sz="15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Dynamic</a:t>
              </a: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endParaRPr lang="he-IL" sz="15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314" name="Google Shape;314;p27"/>
          <p:cNvGrpSpPr/>
          <p:nvPr/>
        </p:nvGrpSpPr>
        <p:grpSpPr>
          <a:xfrm>
            <a:off x="571500" y="3238500"/>
            <a:ext cx="11049000" cy="762000"/>
            <a:chOff x="571500" y="3238500"/>
            <a:chExt cx="11049000" cy="762000"/>
          </a:xfrm>
        </p:grpSpPr>
        <p:sp>
          <p:nvSpPr>
            <p:cNvPr id="315" name="Google Shape;315;p27"/>
            <p:cNvSpPr/>
            <p:nvPr/>
          </p:nvSpPr>
          <p:spPr>
            <a:xfrm>
              <a:off x="571500" y="3238500"/>
              <a:ext cx="11049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316" name="Google Shape;316;p27"/>
            <p:cNvSpPr txBox="1"/>
            <p:nvPr/>
          </p:nvSpPr>
          <p:spPr>
            <a:xfrm>
              <a:off x="762000" y="3238500"/>
              <a:ext cx="171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60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תחביר (</a:t>
              </a:r>
              <a:r>
                <a:rPr lang="he-IL" sz="1600" b="1" noProof="0" dirty="0" err="1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Notation</a:t>
              </a:r>
              <a:r>
                <a:rPr lang="he-IL" sz="160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)</a:t>
              </a:r>
            </a:p>
          </p:txBody>
        </p:sp>
        <p:sp>
          <p:nvSpPr>
            <p:cNvPr id="317" name="Google Shape;317;p27"/>
            <p:cNvSpPr txBox="1"/>
            <p:nvPr/>
          </p:nvSpPr>
          <p:spPr>
            <a:xfrm>
              <a:off x="2667000" y="323850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50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Command</a:t>
              </a:r>
              <a:r>
                <a:rPr lang="he-IL" sz="15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-&gt; </a:t>
              </a:r>
              <a:r>
                <a:rPr lang="he-IL" sz="150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Ar</a:t>
              </a:r>
              <a:r>
                <a:rPr lang="he-IL" sz="15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g</a:t>
              </a:r>
              <a:endParaRPr lang="he-IL" sz="15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18" name="Google Shape;318;p27"/>
            <p:cNvSpPr txBox="1"/>
            <p:nvPr/>
          </p:nvSpPr>
          <p:spPr>
            <a:xfrm>
              <a:off x="5810250" y="323850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מבוסס הזחות </a:t>
              </a:r>
              <a:endParaRPr lang="he-IL" sz="15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19" name="Google Shape;319;p27"/>
            <p:cNvSpPr txBox="1"/>
            <p:nvPr/>
          </p:nvSpPr>
          <p:spPr>
            <a:xfrm>
              <a:off x="8953500" y="3238500"/>
              <a:ext cx="238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lvl="0" algn="ctr"/>
              <a:r>
                <a:rPr lang="he-IL" sz="150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סוגריים מסולסלים</a:t>
              </a:r>
              <a:endParaRPr lang="he-IL" sz="15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320" name="Google Shape;320;p27"/>
          <p:cNvGrpSpPr/>
          <p:nvPr/>
        </p:nvGrpSpPr>
        <p:grpSpPr>
          <a:xfrm>
            <a:off x="571500" y="4095750"/>
            <a:ext cx="11049000" cy="762000"/>
            <a:chOff x="571500" y="4095750"/>
            <a:chExt cx="11049000" cy="762000"/>
          </a:xfrm>
        </p:grpSpPr>
        <p:sp>
          <p:nvSpPr>
            <p:cNvPr id="321" name="Google Shape;321;p27"/>
            <p:cNvSpPr/>
            <p:nvPr/>
          </p:nvSpPr>
          <p:spPr>
            <a:xfrm>
              <a:off x="571500" y="4095750"/>
              <a:ext cx="11049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322" name="Google Shape;322;p27"/>
            <p:cNvSpPr txBox="1"/>
            <p:nvPr/>
          </p:nvSpPr>
          <p:spPr>
            <a:xfrm>
              <a:off x="762000" y="4095750"/>
              <a:ext cx="171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60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ניהול זיכרון (GC)</a:t>
              </a:r>
            </a:p>
          </p:txBody>
        </p:sp>
        <p:sp>
          <p:nvSpPr>
            <p:cNvPr id="323" name="Google Shape;323;p27"/>
            <p:cNvSpPr txBox="1"/>
            <p:nvPr/>
          </p:nvSpPr>
          <p:spPr>
            <a:xfrm>
              <a:off x="2667000" y="409575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5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Reference</a:t>
              </a: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he-IL" sz="15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Counting</a:t>
              </a: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-מבוסס ספירת הפניות</a:t>
              </a:r>
              <a:endParaRPr lang="he-IL" sz="15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24" name="Google Shape;324;p27"/>
            <p:cNvSpPr txBox="1"/>
            <p:nvPr/>
          </p:nvSpPr>
          <p:spPr>
            <a:xfrm>
              <a:off x="5810250" y="409575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5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Tracing</a:t>
              </a: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GC + </a:t>
              </a:r>
              <a:r>
                <a:rPr lang="he-IL" sz="15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Reference</a:t>
              </a: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he-IL" sz="15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Counting</a:t>
              </a: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endParaRPr lang="he-IL" sz="15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25" name="Google Shape;325;p27"/>
            <p:cNvSpPr txBox="1"/>
            <p:nvPr/>
          </p:nvSpPr>
          <p:spPr>
            <a:xfrm>
              <a:off x="8953500" y="4095750"/>
              <a:ext cx="238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5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Tracing</a:t>
              </a: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GC 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)</a:t>
              </a:r>
              <a:r>
                <a:rPr lang="he-IL" sz="15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Mark-and-Sweep</a:t>
              </a: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(</a:t>
              </a:r>
              <a:endParaRPr lang="he-IL" sz="15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326" name="Google Shape;326;p27"/>
          <p:cNvGrpSpPr/>
          <p:nvPr/>
        </p:nvGrpSpPr>
        <p:grpSpPr>
          <a:xfrm>
            <a:off x="571500" y="4953000"/>
            <a:ext cx="11049000" cy="762000"/>
            <a:chOff x="571500" y="4953000"/>
            <a:chExt cx="11049000" cy="762000"/>
          </a:xfrm>
        </p:grpSpPr>
        <p:sp>
          <p:nvSpPr>
            <p:cNvPr id="327" name="Google Shape;327;p27"/>
            <p:cNvSpPr/>
            <p:nvPr/>
          </p:nvSpPr>
          <p:spPr>
            <a:xfrm>
              <a:off x="571500" y="4953000"/>
              <a:ext cx="11049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328" name="Google Shape;328;p27"/>
            <p:cNvSpPr txBox="1"/>
            <p:nvPr/>
          </p:nvSpPr>
          <p:spPr>
            <a:xfrm>
              <a:off x="762000" y="4953000"/>
              <a:ext cx="171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60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קהילה ושימוש</a:t>
              </a:r>
            </a:p>
          </p:txBody>
        </p:sp>
        <p:sp>
          <p:nvSpPr>
            <p:cNvPr id="329" name="Google Shape;329;p27"/>
            <p:cNvSpPr txBox="1"/>
            <p:nvPr/>
          </p:nvSpPr>
          <p:spPr>
            <a:xfrm>
              <a:off x="2667000" y="495300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נישה (EDA, בדיקות חומרה, נתבי </a:t>
              </a:r>
              <a:r>
                <a:rPr lang="he-IL" sz="15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Cisco</a:t>
              </a: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) </a:t>
              </a:r>
              <a:endParaRPr lang="he-IL" sz="15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30" name="Google Shape;330;p27"/>
            <p:cNvSpPr txBox="1"/>
            <p:nvPr/>
          </p:nvSpPr>
          <p:spPr>
            <a:xfrm>
              <a:off x="5810250" y="495300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5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עצומה (</a:t>
              </a:r>
              <a:r>
                <a:rPr lang="he-IL" sz="150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Data</a:t>
              </a:r>
              <a:r>
                <a:rPr lang="he-IL" sz="15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he-IL" sz="150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Science</a:t>
              </a:r>
              <a:r>
                <a:rPr lang="he-IL" sz="15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, </a:t>
              </a:r>
              <a:r>
                <a:rPr lang="he-IL" sz="150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Web</a:t>
              </a:r>
              <a:r>
                <a:rPr lang="he-IL" sz="15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, AI)</a:t>
              </a:r>
            </a:p>
          </p:txBody>
        </p:sp>
        <p:sp>
          <p:nvSpPr>
            <p:cNvPr id="331" name="Google Shape;331;p27"/>
            <p:cNvSpPr txBox="1"/>
            <p:nvPr/>
          </p:nvSpPr>
          <p:spPr>
            <a:xfrm>
              <a:off x="8953500" y="4953000"/>
              <a:ext cx="238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עצומה ( </a:t>
              </a:r>
              <a:r>
                <a:rPr lang="he-IL" sz="15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Fullstack</a:t>
              </a: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/ Node.js) </a:t>
              </a:r>
              <a:endParaRPr lang="he-IL" sz="15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8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העברת פרמטרים</a:t>
            </a:r>
            <a:endParaRPr lang="he-IL" noProof="0" dirty="0"/>
          </a:p>
        </p:txBody>
      </p:sp>
      <p:sp>
        <p:nvSpPr>
          <p:cNvPr id="338" name="Google Shape;338;p28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8"/>
          <p:cNvSpPr txBox="1"/>
          <p:nvPr/>
        </p:nvSpPr>
        <p:spPr>
          <a:xfrm>
            <a:off x="571500" y="2915840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0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call-by-value</a:t>
            </a:r>
            <a:r>
              <a:rPr lang="he-IL" sz="20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 </a:t>
            </a:r>
            <a:r>
              <a:rPr lang="he-IL" sz="20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מנקודת מבטו של המתכנת.</a:t>
            </a:r>
            <a:endParaRPr lang="he-IL" sz="1800" noProof="0" dirty="0"/>
          </a:p>
        </p:txBody>
      </p:sp>
      <p:sp>
        <p:nvSpPr>
          <p:cNvPr id="340" name="Google Shape;340;p28"/>
          <p:cNvSpPr txBox="1"/>
          <p:nvPr/>
        </p:nvSpPr>
        <p:spPr>
          <a:xfrm>
            <a:off x="571500" y="3422451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0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call-by-reference</a:t>
            </a:r>
            <a:r>
              <a:rPr lang="he-IL" sz="20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20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בעזרת העברת </a:t>
            </a:r>
            <a:r>
              <a:rPr lang="he-IL" sz="20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שם המשתנה</a:t>
            </a:r>
            <a:r>
              <a:rPr lang="he-IL" sz="20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ושימוש ב-</a:t>
            </a:r>
            <a:r>
              <a:rPr lang="he-IL" sz="20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upvar</a:t>
            </a:r>
            <a:r>
              <a:rPr lang="he-IL" sz="20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lang="he-IL" sz="1800" noProof="0" dirty="0"/>
          </a:p>
        </p:txBody>
      </p:sp>
      <p:sp>
        <p:nvSpPr>
          <p:cNvPr id="341" name="Google Shape;341;p28"/>
          <p:cNvSpPr txBox="1"/>
          <p:nvPr/>
        </p:nvSpPr>
        <p:spPr>
          <a:xfrm>
            <a:off x="571500" y="3929062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0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In</a:t>
            </a:r>
            <a:r>
              <a:rPr lang="he-IL" sz="20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/</a:t>
            </a:r>
            <a:r>
              <a:rPr lang="he-IL" sz="20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Out</a:t>
            </a:r>
            <a:r>
              <a:rPr lang="he-IL" sz="20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20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Model</a:t>
            </a:r>
            <a:r>
              <a:rPr lang="he-IL" sz="20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20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פונקציה יכולה לשנות משתנה של הקורא ע"י קישור השם שלו.</a:t>
            </a:r>
            <a:endParaRPr lang="he-IL" sz="1800" noProof="0" dirty="0"/>
          </a:p>
        </p:txBody>
      </p:sp>
      <p:sp>
        <p:nvSpPr>
          <p:cNvPr id="342" name="Google Shape;342;p28"/>
          <p:cNvSpPr txBox="1"/>
          <p:nvPr/>
        </p:nvSpPr>
        <p:spPr>
          <a:xfrm>
            <a:off x="571500" y="4435673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0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בשונה מ-C, אין סכנה של מצביע לא חוקי</a:t>
            </a:r>
            <a:r>
              <a:rPr lang="he-IL" sz="200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lang="he-IL" sz="20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אם המשתנה לא קיים, הוא נוצר.</a:t>
            </a:r>
            <a:endParaRPr lang="he-IL" sz="1800" noProof="0" dirty="0"/>
          </a:p>
        </p:txBody>
      </p:sp>
      <p:pic>
        <p:nvPicPr>
          <p:cNvPr id="343" name="Google Shape;343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91912" y="311150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359003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84191" y="409664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49050" y="4603253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921E6EDC-1FB0-4C2A-B122-013D4ED5A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807" y="266331"/>
            <a:ext cx="5657850" cy="29846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9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סדר פרמטרים</a:t>
            </a:r>
            <a:endParaRPr lang="he-IL" noProof="0" dirty="0"/>
          </a:p>
        </p:txBody>
      </p:sp>
      <p:sp>
        <p:nvSpPr>
          <p:cNvPr id="353" name="Google Shape;353;p29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4" name="Google Shape;354;p29"/>
          <p:cNvGraphicFramePr/>
          <p:nvPr>
            <p:extLst>
              <p:ext uri="{D42A27DB-BD31-4B8C-83A1-F6EECF244321}">
                <p14:modId xmlns:p14="http://schemas.microsoft.com/office/powerpoint/2010/main" val="71136528"/>
              </p:ext>
            </p:extLst>
          </p:nvPr>
        </p:nvGraphicFramePr>
        <p:xfrm>
          <a:off x="571500" y="2592280"/>
          <a:ext cx="11253556" cy="3533312"/>
        </p:xfrm>
        <a:graphic>
          <a:graphicData uri="http://schemas.openxmlformats.org/drawingml/2006/table">
            <a:tbl>
              <a:tblPr firstRow="1" bandRow="1">
                <a:noFill/>
                <a:tableStyleId>{C818A2C4-7DA0-4F76-A5B3-8B96248F8CAC}</a:tableStyleId>
              </a:tblPr>
              <a:tblGrid>
                <a:gridCol w="28452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8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9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3328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200" b="1" i="0" u="none" strike="noStrike" cap="none" noProof="0" dirty="0">
                          <a:solidFill>
                            <a:srgbClr val="FFFFFF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סוג העברה</a:t>
                      </a:r>
                      <a:endParaRPr lang="he-I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200" b="1" i="0" u="none" strike="noStrike" cap="none" noProof="0" dirty="0">
                          <a:solidFill>
                            <a:srgbClr val="FFFFFF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תיאור</a:t>
                      </a:r>
                      <a:endParaRPr lang="he-I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200" b="1" i="0" u="none" strike="noStrike" cap="none" noProof="0" dirty="0">
                          <a:solidFill>
                            <a:srgbClr val="FFFFFF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דוגמה</a:t>
                      </a:r>
                      <a:endParaRPr lang="he-I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328"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600" b="0" i="0" u="none" strike="noStrike" cap="none" noProof="0" dirty="0" err="1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By</a:t>
                      </a:r>
                      <a:r>
                        <a:rPr lang="he-IL" sz="1600" b="0" i="0" u="none" strike="noStrike" cap="none" noProof="0" dirty="0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 </a:t>
                      </a:r>
                      <a:r>
                        <a:rPr lang="he-IL" sz="1600" b="0" i="0" u="none" strike="noStrike" cap="none" noProof="0" dirty="0" err="1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Position</a:t>
                      </a:r>
                      <a:endParaRPr lang="he-IL" sz="1800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200" b="0" i="0" u="none" strike="noStrike" cap="none" noProof="0" dirty="0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התאמה לפי סדר המופע</a:t>
                      </a:r>
                      <a:endParaRPr lang="he-I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600" b="0" i="0" u="none" strike="noStrike" cap="none" noProof="0" dirty="0" err="1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myProc</a:t>
                      </a:r>
                      <a:r>
                        <a:rPr lang="he-IL" sz="1600" b="0" i="0" u="none" strike="noStrike" cap="none" noProof="0" dirty="0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 $a $b</a:t>
                      </a:r>
                      <a:endParaRPr lang="he-IL" sz="1800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3328"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600" b="0" i="0" u="none" strike="noStrike" cap="none" noProof="0" dirty="0" err="1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Default</a:t>
                      </a:r>
                      <a:r>
                        <a:rPr lang="he-IL" sz="1600" b="0" i="0" u="none" strike="noStrike" cap="none" noProof="0" dirty="0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 </a:t>
                      </a:r>
                      <a:r>
                        <a:rPr lang="he-IL" sz="1600" b="0" i="0" u="none" strike="noStrike" cap="none" noProof="0" dirty="0" err="1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Values</a:t>
                      </a:r>
                      <a:endParaRPr lang="he-IL" sz="1800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200" b="0" i="0" u="none" strike="noStrike" cap="none" noProof="0" dirty="0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ערך ברירת מחדל לפרמטרים אופציונליים</a:t>
                      </a:r>
                      <a:endParaRPr lang="he-I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pl-PL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ssistant" pitchFamily="2" charset="-79"/>
                          <a:ea typeface="Calibri"/>
                          <a:cs typeface="Assistant" pitchFamily="2" charset="-79"/>
                          <a:sym typeface="Arial"/>
                        </a:rPr>
                        <a:t>proc p {a {b 10}}</a:t>
                      </a:r>
                      <a:endParaRPr lang="pl-PL" sz="1400" b="0" dirty="0">
                        <a:effectLst/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3328"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600" dirty="0" err="1"/>
                        <a:t>Dynamic</a:t>
                      </a:r>
                      <a:r>
                        <a:rPr lang="he-IL" sz="1600" dirty="0"/>
                        <a:t> </a:t>
                      </a:r>
                      <a:r>
                        <a:rPr lang="he-IL" sz="1600" dirty="0" err="1"/>
                        <a:t>Parameters</a:t>
                      </a:r>
                      <a:r>
                        <a:rPr lang="en-US" sz="1600" dirty="0"/>
                        <a:t> (</a:t>
                      </a:r>
                      <a:r>
                        <a:rPr lang="en-US" sz="1600" dirty="0" err="1"/>
                        <a:t>args</a:t>
                      </a:r>
                      <a:r>
                        <a:rPr lang="en-US" sz="1600" dirty="0"/>
                        <a:t>)</a:t>
                      </a:r>
                      <a:endParaRPr lang="he-IL" sz="1800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200" b="0" i="0" u="none" strike="noStrike" cap="none" noProof="0" dirty="0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קליטת מספר לא ידוע של פרמטרים</a:t>
                      </a:r>
                      <a:endParaRPr lang="he-I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800" b="0" i="0" u="none" strike="noStrike" cap="none" noProof="0" dirty="0" err="1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proc</a:t>
                      </a:r>
                      <a:r>
                        <a:rPr lang="he-IL" sz="1800" b="0" i="0" u="none" strike="noStrike" cap="none" noProof="0" dirty="0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 p {</a:t>
                      </a:r>
                      <a:r>
                        <a:rPr lang="he-IL" sz="1800" b="0" i="0" u="none" strike="noStrike" cap="none" noProof="0" dirty="0" err="1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args</a:t>
                      </a:r>
                      <a:r>
                        <a:rPr lang="he-IL" sz="1800" b="0" i="0" u="none" strike="noStrike" cap="none" noProof="0" dirty="0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}</a:t>
                      </a:r>
                      <a:endParaRPr lang="he-IL" sz="2000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5" name="Google Shape;355;p29"/>
          <p:cNvSpPr/>
          <p:nvPr/>
        </p:nvSpPr>
        <p:spPr>
          <a:xfrm>
            <a:off x="9447610" y="3485318"/>
            <a:ext cx="211574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9"/>
          <p:cNvSpPr/>
          <p:nvPr/>
        </p:nvSpPr>
        <p:spPr>
          <a:xfrm>
            <a:off x="4887069" y="3478984"/>
            <a:ext cx="461769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9"/>
          <p:cNvSpPr/>
          <p:nvPr/>
        </p:nvSpPr>
        <p:spPr>
          <a:xfrm>
            <a:off x="571500" y="3490081"/>
            <a:ext cx="43155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9"/>
          <p:cNvSpPr/>
          <p:nvPr/>
        </p:nvSpPr>
        <p:spPr>
          <a:xfrm>
            <a:off x="9504759" y="4419600"/>
            <a:ext cx="211574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9"/>
          <p:cNvSpPr/>
          <p:nvPr/>
        </p:nvSpPr>
        <p:spPr>
          <a:xfrm>
            <a:off x="4887069" y="4419600"/>
            <a:ext cx="461769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9"/>
          <p:cNvSpPr/>
          <p:nvPr/>
        </p:nvSpPr>
        <p:spPr>
          <a:xfrm>
            <a:off x="571500" y="4419600"/>
            <a:ext cx="43155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9"/>
          <p:cNvSpPr/>
          <p:nvPr/>
        </p:nvSpPr>
        <p:spPr>
          <a:xfrm>
            <a:off x="9447610" y="5234958"/>
            <a:ext cx="211574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9"/>
          <p:cNvSpPr/>
          <p:nvPr/>
        </p:nvSpPr>
        <p:spPr>
          <a:xfrm>
            <a:off x="4887068" y="5217758"/>
            <a:ext cx="461769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9"/>
          <p:cNvSpPr/>
          <p:nvPr/>
        </p:nvSpPr>
        <p:spPr>
          <a:xfrm>
            <a:off x="571499" y="5261684"/>
            <a:ext cx="43155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559546"/>
            <a:ext cx="3492549" cy="2739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559546"/>
            <a:ext cx="3492549" cy="2739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351" y="2559546"/>
            <a:ext cx="3492549" cy="2739032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0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הפשטה (</a:t>
            </a:r>
            <a:r>
              <a:rPr lang="he-IL" sz="33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Abstraction</a:t>
            </a: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)</a:t>
            </a:r>
            <a:endParaRPr lang="he-IL" noProof="0" dirty="0"/>
          </a:p>
        </p:txBody>
      </p:sp>
      <p:sp>
        <p:nvSpPr>
          <p:cNvPr id="373" name="Google Shape;373;p30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" name="Google Shape;374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16975" y="2854821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0"/>
          <p:cNvSpPr txBox="1"/>
          <p:nvPr/>
        </p:nvSpPr>
        <p:spPr>
          <a:xfrm>
            <a:off x="8350675" y="3502521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Namespaces</a:t>
            </a:r>
            <a:endParaRPr lang="he-IL" noProof="0" dirty="0"/>
          </a:p>
        </p:txBody>
      </p:sp>
      <p:sp>
        <p:nvSpPr>
          <p:cNvPr id="376" name="Google Shape;376;p30"/>
          <p:cNvSpPr txBox="1"/>
          <p:nvPr/>
        </p:nvSpPr>
        <p:spPr>
          <a:xfrm>
            <a:off x="8423225" y="3997821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91440" algn="ctr">
              <a:lnSpc>
                <a:spcPct val="150000"/>
              </a:lnSpc>
            </a:pPr>
            <a:r>
              <a:rPr lang="he-IL" sz="1500" dirty="0"/>
              <a:t>יוצר "תיקייה" פרטית לכל חלק בקוד. זה מונע בלבול והתנגשות בין שמות של משתנים בתוכניות גדולות.</a:t>
            </a:r>
          </a:p>
        </p:txBody>
      </p:sp>
      <p:pic>
        <p:nvPicPr>
          <p:cNvPr id="377" name="Google Shape;377;p3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101" y="2854821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0"/>
          <p:cNvSpPr txBox="1"/>
          <p:nvPr/>
        </p:nvSpPr>
        <p:spPr>
          <a:xfrm>
            <a:off x="4572375" y="3502521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Packages</a:t>
            </a:r>
            <a:endParaRPr lang="he-IL" noProof="0" dirty="0"/>
          </a:p>
        </p:txBody>
      </p:sp>
      <p:sp>
        <p:nvSpPr>
          <p:cNvPr id="379" name="Google Shape;379;p30"/>
          <p:cNvSpPr txBox="1"/>
          <p:nvPr/>
        </p:nvSpPr>
        <p:spPr>
          <a:xfrm>
            <a:off x="4644925" y="3997821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 rtl="1">
              <a:lnSpc>
                <a:spcPct val="160000"/>
              </a:lnSpc>
            </a:pPr>
            <a:r>
              <a:rPr lang="he-IL" dirty="0"/>
              <a:t>ריכוז קוד מוכן בתוך "חבילות". מאפשר לטעון ולהשתמש בפונקציות שוב ושוב בכל פרויקט בצורה פשוטה.</a:t>
            </a:r>
            <a:endParaRPr lang="he-IL" noProof="0" dirty="0"/>
          </a:p>
        </p:txBody>
      </p:sp>
      <p:pic>
        <p:nvPicPr>
          <p:cNvPr id="380" name="Google Shape;380;p3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31801" y="2854821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0"/>
          <p:cNvSpPr txBox="1"/>
          <p:nvPr/>
        </p:nvSpPr>
        <p:spPr>
          <a:xfrm>
            <a:off x="794076" y="3502521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Information</a:t>
            </a:r>
            <a:r>
              <a:rPr lang="he-IL" sz="21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Hiding</a:t>
            </a:r>
            <a:endParaRPr lang="he-IL" noProof="0" dirty="0"/>
          </a:p>
        </p:txBody>
      </p:sp>
      <p:sp>
        <p:nvSpPr>
          <p:cNvPr id="382" name="Google Shape;382;p30"/>
          <p:cNvSpPr txBox="1"/>
          <p:nvPr/>
        </p:nvSpPr>
        <p:spPr>
          <a:xfrm>
            <a:off x="866626" y="3997820"/>
            <a:ext cx="2901999" cy="1115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 rtl="1">
              <a:lnSpc>
                <a:spcPct val="160000"/>
              </a:lnSpc>
            </a:pPr>
            <a:r>
              <a:rPr lang="he-IL" dirty="0"/>
              <a:t>מציג למשתמש רק את הפקודות שהוא צריך, ומסתיר את כל הפרטים הטכניים המסובכים "מתחת למכסה המנוע".</a:t>
            </a:r>
            <a:endParaRPr lang="he-IL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1"/>
          <p:cNvSpPr txBox="1"/>
          <p:nvPr/>
        </p:nvSpPr>
        <p:spPr>
          <a:xfrm>
            <a:off x="6429375" y="571500"/>
            <a:ext cx="50006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OOP ב </a:t>
            </a:r>
            <a:r>
              <a:rPr lang="he-IL" sz="3300" b="1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- </a:t>
            </a:r>
            <a:r>
              <a:rPr lang="he-IL" sz="33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TclOO</a:t>
            </a:r>
            <a:endParaRPr lang="he-IL" noProof="0" dirty="0"/>
          </a:p>
        </p:txBody>
      </p:sp>
      <p:sp>
        <p:nvSpPr>
          <p:cNvPr id="389" name="Google Shape;389;p31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1"/>
          <p:cNvSpPr txBox="1"/>
          <p:nvPr/>
        </p:nvSpPr>
        <p:spPr>
          <a:xfrm>
            <a:off x="6667500" y="1571625"/>
            <a:ext cx="4619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Classes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&amp; </a:t>
            </a: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Objects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תמיכה מלאה מגרסה 8.6.</a:t>
            </a:r>
            <a:endParaRPr lang="he-IL" noProof="0" dirty="0"/>
          </a:p>
        </p:txBody>
      </p:sp>
      <p:sp>
        <p:nvSpPr>
          <p:cNvPr id="392" name="Google Shape;392;p31"/>
          <p:cNvSpPr txBox="1"/>
          <p:nvPr/>
        </p:nvSpPr>
        <p:spPr>
          <a:xfrm>
            <a:off x="6667500" y="2078235"/>
            <a:ext cx="46196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Encapsulation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משתני מחלקה (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variable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 מוצפנים מהחוץ.</a:t>
            </a:r>
            <a:endParaRPr lang="he-IL" noProof="0" dirty="0"/>
          </a:p>
        </p:txBody>
      </p:sp>
      <p:sp>
        <p:nvSpPr>
          <p:cNvPr id="393" name="Google Shape;393;p31"/>
          <p:cNvSpPr txBox="1"/>
          <p:nvPr/>
        </p:nvSpPr>
        <p:spPr>
          <a:xfrm>
            <a:off x="6667500" y="2920007"/>
            <a:ext cx="46196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Constructors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הגדרה ע"י מילת המפתח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constructor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lang="he-IL" noProof="0" dirty="0"/>
          </a:p>
        </p:txBody>
      </p:sp>
      <p:pic>
        <p:nvPicPr>
          <p:cNvPr id="394" name="Google Shape;394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167272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217933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302110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610527E0-6451-8D66-B47A-F95AD3747C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8633" y="3420084"/>
            <a:ext cx="7202393" cy="328658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13371"/>
            <a:ext cx="5334000" cy="1641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13371"/>
            <a:ext cx="5334000" cy="1641871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2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OOP: ירושה ופולימורפיזם</a:t>
            </a:r>
            <a:endParaRPr lang="he-IL" noProof="0" dirty="0"/>
          </a:p>
        </p:txBody>
      </p:sp>
      <p:sp>
        <p:nvSpPr>
          <p:cNvPr id="405" name="Google Shape;405;p32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2"/>
          <p:cNvSpPr/>
          <p:nvPr/>
        </p:nvSpPr>
        <p:spPr>
          <a:xfrm>
            <a:off x="11582400" y="4725292"/>
            <a:ext cx="38100" cy="335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2"/>
          <p:cNvSpPr txBox="1"/>
          <p:nvPr/>
        </p:nvSpPr>
        <p:spPr>
          <a:xfrm>
            <a:off x="6524625" y="1651496"/>
            <a:ext cx="510063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Inheritance</a:t>
            </a:r>
            <a:endParaRPr lang="he-IL" noProof="0" dirty="0"/>
          </a:p>
        </p:txBody>
      </p:sp>
      <p:sp>
        <p:nvSpPr>
          <p:cNvPr id="409" name="Google Shape;409;p32"/>
          <p:cNvSpPr txBox="1"/>
          <p:nvPr/>
        </p:nvSpPr>
        <p:spPr>
          <a:xfrm>
            <a:off x="6524625" y="2146796"/>
            <a:ext cx="4857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תמיכה בירושה מרובה (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Multiple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Inheritance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 בעזרת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superclass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lang="he-IL" noProof="0" dirty="0"/>
          </a:p>
        </p:txBody>
      </p:sp>
      <p:sp>
        <p:nvSpPr>
          <p:cNvPr id="410" name="Google Shape;410;p32"/>
          <p:cNvSpPr txBox="1"/>
          <p:nvPr/>
        </p:nvSpPr>
        <p:spPr>
          <a:xfrm>
            <a:off x="809625" y="1651496"/>
            <a:ext cx="510063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Mixins</a:t>
            </a:r>
            <a:endParaRPr lang="he-IL" noProof="0" dirty="0"/>
          </a:p>
        </p:txBody>
      </p:sp>
      <p:sp>
        <p:nvSpPr>
          <p:cNvPr id="411" name="Google Shape;411;p32"/>
          <p:cNvSpPr txBox="1"/>
          <p:nvPr/>
        </p:nvSpPr>
        <p:spPr>
          <a:xfrm>
            <a:off x="809625" y="2146796"/>
            <a:ext cx="4857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מנגנונים מתקדמים להזרקת התנהגות דינמית לאובייקטים בזמן ריצה.</a:t>
            </a:r>
            <a:endParaRPr lang="he-IL" noProof="0" dirty="0"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12ECC908-0AD8-506A-E0CF-38C570643E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3300" y="3169829"/>
            <a:ext cx="4277098" cy="3561712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9A50CE24-DFAA-FC59-D326-E40AB30A59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6910" y="3177000"/>
            <a:ext cx="3739590" cy="355924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3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תחביר ודוגמאות קוד</a:t>
            </a:r>
            <a:endParaRPr lang="he-IL" noProof="0" dirty="0"/>
          </a:p>
        </p:txBody>
      </p:sp>
      <p:sp>
        <p:nvSpPr>
          <p:cNvPr id="418" name="Google Shape;418;p33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3"/>
          <p:cNvSpPr txBox="1"/>
          <p:nvPr/>
        </p:nvSpPr>
        <p:spPr>
          <a:xfrm>
            <a:off x="6286500" y="2709862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set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להשמה,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expr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לחישובים.</a:t>
            </a:r>
            <a:endParaRPr lang="he-IL" noProof="0" dirty="0"/>
          </a:p>
        </p:txBody>
      </p:sp>
      <p:sp>
        <p:nvSpPr>
          <p:cNvPr id="420" name="Google Shape;420;p33"/>
          <p:cNvSpPr txBox="1"/>
          <p:nvPr/>
        </p:nvSpPr>
        <p:spPr>
          <a:xfrm>
            <a:off x="6286500" y="3216473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לולאות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for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,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foreach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,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while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lang="he-IL" noProof="0" dirty="0"/>
          </a:p>
        </p:txBody>
      </p:sp>
      <p:sp>
        <p:nvSpPr>
          <p:cNvPr id="421" name="Google Shape;421;p33"/>
          <p:cNvSpPr txBox="1"/>
          <p:nvPr/>
        </p:nvSpPr>
        <p:spPr>
          <a:xfrm>
            <a:off x="6286500" y="3723084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הצבת ערכי משתנים בעזרת $.</a:t>
            </a:r>
            <a:endParaRPr lang="he-IL" noProof="0" dirty="0"/>
          </a:p>
        </p:txBody>
      </p:sp>
      <p:pic>
        <p:nvPicPr>
          <p:cNvPr id="422" name="Google Shape;422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279737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3303983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3810594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70DAC089-0579-5EC9-CA3D-BD833D544A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25" y="533400"/>
            <a:ext cx="6953250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595561"/>
            <a:ext cx="5334000" cy="3404282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4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קבצים: קריאה וכתיבה</a:t>
            </a:r>
            <a:endParaRPr lang="he-IL" noProof="0" dirty="0"/>
          </a:p>
        </p:txBody>
      </p:sp>
      <p:sp>
        <p:nvSpPr>
          <p:cNvPr id="432" name="Google Shape;432;p34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4"/>
          <p:cNvSpPr txBox="1"/>
          <p:nvPr/>
        </p:nvSpPr>
        <p:spPr>
          <a:xfrm>
            <a:off x="6296025" y="2719387"/>
            <a:ext cx="520065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מנגנון </a:t>
            </a: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Channels</a:t>
            </a:r>
            <a:endParaRPr lang="he-IL" noProof="0" dirty="0"/>
          </a:p>
        </p:txBody>
      </p:sp>
      <p:sp>
        <p:nvSpPr>
          <p:cNvPr id="434" name="Google Shape;434;p34"/>
          <p:cNvSpPr txBox="1"/>
          <p:nvPr/>
        </p:nvSpPr>
        <p:spPr>
          <a:xfrm>
            <a:off x="6477000" y="3214687"/>
            <a:ext cx="4953000" cy="300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עבודה דרך ערוצים (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File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Handles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 המאפשרים קריאה חסומה או מונחית אירועים.</a:t>
            </a:r>
          </a:p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dirty="0">
                <a:solidFill>
                  <a:srgbClr val="2C3E50"/>
                </a:solidFill>
                <a:latin typeface="Assistant"/>
                <a:cs typeface="Assistant"/>
                <a:sym typeface="Assistant"/>
              </a:rPr>
              <a:t>ערוץ מאפשר להיות צינור תקשורת בין הקוד למשאב במחשב, וכך ניתן לקרוא את התוכן של הקובץ</a:t>
            </a:r>
          </a:p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he-IL" sz="1650" noProof="0" dirty="0">
              <a:solidFill>
                <a:srgbClr val="2C3E50"/>
              </a:solidFill>
              <a:latin typeface="Assistant"/>
              <a:cs typeface="Assistant"/>
              <a:sym typeface="Assistant"/>
            </a:endParaRPr>
          </a:p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dirty="0">
                <a:solidFill>
                  <a:srgbClr val="2C3E50"/>
                </a:solidFill>
                <a:latin typeface="Assistant"/>
                <a:cs typeface="Assistant"/>
                <a:sym typeface="Assistant"/>
              </a:rPr>
              <a:t>בגלל שהוא לא חסום במקרה השני, אז איך נדע שהוא סיים לקרוא? תשובה: על ידי </a:t>
            </a:r>
            <a:r>
              <a:rPr lang="en-US" sz="1650" dirty="0" err="1">
                <a:solidFill>
                  <a:srgbClr val="2C3E50"/>
                </a:solidFill>
                <a:latin typeface="Assistant"/>
                <a:cs typeface="Assistant"/>
                <a:sym typeface="Assistant"/>
              </a:rPr>
              <a:t>onEvent</a:t>
            </a:r>
            <a:endParaRPr lang="he-IL" noProof="0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ED1864B0-4F60-DB85-9163-D453683436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772" y="3951682"/>
            <a:ext cx="5772956" cy="2048161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7B78E378-9DB0-717A-D113-082EA40F78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302" y="822384"/>
            <a:ext cx="5762626" cy="517745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5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מחרוזות: הכוח של </a:t>
            </a:r>
            <a:r>
              <a:rPr lang="he-IL" sz="33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Tcl</a:t>
            </a:r>
            <a:endParaRPr lang="he-IL" noProof="0" dirty="0"/>
          </a:p>
        </p:txBody>
      </p:sp>
      <p:sp>
        <p:nvSpPr>
          <p:cNvPr id="441" name="Google Shape;441;p35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5"/>
          <p:cNvSpPr txBox="1"/>
          <p:nvPr/>
        </p:nvSpPr>
        <p:spPr>
          <a:xfrm>
            <a:off x="571500" y="2172890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string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map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 החלפת תתי-מחרוזות בצורה מהירה ביותר.</a:t>
            </a:r>
            <a:endParaRPr lang="he-IL" noProof="0" dirty="0"/>
          </a:p>
        </p:txBody>
      </p:sp>
      <p:sp>
        <p:nvSpPr>
          <p:cNvPr id="443" name="Google Shape;443;p35"/>
          <p:cNvSpPr txBox="1"/>
          <p:nvPr/>
        </p:nvSpPr>
        <p:spPr>
          <a:xfrm>
            <a:off x="571500" y="2679501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regexp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 תמיכה מלאה ואינטגרלית בביטויים רגולריים.</a:t>
            </a:r>
            <a:endParaRPr lang="he-IL" noProof="0" dirty="0"/>
          </a:p>
        </p:txBody>
      </p:sp>
      <p:sp>
        <p:nvSpPr>
          <p:cNvPr id="444" name="Google Shape;444;p35"/>
          <p:cNvSpPr txBox="1"/>
          <p:nvPr/>
        </p:nvSpPr>
        <p:spPr>
          <a:xfrm>
            <a:off x="571500" y="3186112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string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match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 השוואת תבניות (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Glob-style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 פשוטה.</a:t>
            </a:r>
            <a:endParaRPr lang="he-IL" noProof="0" dirty="0"/>
          </a:p>
        </p:txBody>
      </p:sp>
      <p:sp>
        <p:nvSpPr>
          <p:cNvPr id="445" name="Google Shape;445;p35"/>
          <p:cNvSpPr txBox="1"/>
          <p:nvPr/>
        </p:nvSpPr>
        <p:spPr>
          <a:xfrm>
            <a:off x="571500" y="3692723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מניפולציות טקסט הן ה"לחם והחמאה" של השפה.</a:t>
            </a:r>
            <a:endParaRPr lang="he-IL" noProof="0" dirty="0"/>
          </a:p>
        </p:txBody>
      </p:sp>
      <p:pic>
        <p:nvPicPr>
          <p:cNvPr id="446" name="Google Shape;446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226040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276701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327362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3780233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D921A463-BD1B-2A88-07C2-1412C538E5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782" y="4286844"/>
            <a:ext cx="5153393" cy="1828349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824FA6F8-3D4C-2DEC-6541-B07574A14B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457" y="4560689"/>
            <a:ext cx="5153393" cy="1828349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BB477429-A251-C8D7-0992-97CBD0F1B8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9219" y="4286844"/>
            <a:ext cx="5153393" cy="2102193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03B4763B-AFF9-220A-E0BD-D87FBF9894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762125"/>
            <a:ext cx="6451282" cy="411489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38">
          <a:extLst>
            <a:ext uri="{FF2B5EF4-FFF2-40B4-BE49-F238E27FC236}">
              <a16:creationId xmlns:a16="http://schemas.microsoft.com/office/drawing/2014/main" id="{18C2847E-48AD-F07F-72D0-F4CC38B21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35" descr="image.png">
            <a:extLst>
              <a:ext uri="{FF2B5EF4-FFF2-40B4-BE49-F238E27FC236}">
                <a16:creationId xmlns:a16="http://schemas.microsoft.com/office/drawing/2014/main" id="{31385E6E-C62D-D094-C327-3960C6EE4ED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5">
            <a:extLst>
              <a:ext uri="{FF2B5EF4-FFF2-40B4-BE49-F238E27FC236}">
                <a16:creationId xmlns:a16="http://schemas.microsoft.com/office/drawing/2014/main" id="{FC0B0687-C685-C39A-5F5F-234C55C7DBC4}"/>
              </a:ext>
            </a:extLst>
          </p:cNvPr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Tk</a:t>
            </a:r>
            <a:endParaRPr lang="he-IL" noProof="0" dirty="0"/>
          </a:p>
        </p:txBody>
      </p:sp>
      <p:sp>
        <p:nvSpPr>
          <p:cNvPr id="441" name="Google Shape;441;p35">
            <a:extLst>
              <a:ext uri="{FF2B5EF4-FFF2-40B4-BE49-F238E27FC236}">
                <a16:creationId xmlns:a16="http://schemas.microsoft.com/office/drawing/2014/main" id="{C0E0B426-AE6A-EA6E-BA84-84C8FFA767D4}"/>
              </a:ext>
            </a:extLst>
          </p:cNvPr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5">
            <a:extLst>
              <a:ext uri="{FF2B5EF4-FFF2-40B4-BE49-F238E27FC236}">
                <a16:creationId xmlns:a16="http://schemas.microsoft.com/office/drawing/2014/main" id="{485EB648-1931-1103-6EC1-BE7F39814A23}"/>
              </a:ext>
            </a:extLst>
          </p:cNvPr>
          <p:cNvSpPr txBox="1"/>
          <p:nvPr/>
        </p:nvSpPr>
        <p:spPr>
          <a:xfrm>
            <a:off x="571500" y="2172890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r" rtl="1">
              <a:lnSpc>
                <a:spcPct val="160000"/>
              </a:lnSpc>
            </a:pPr>
            <a:r>
              <a:rPr lang="he-IL" b="1" dirty="0">
                <a:latin typeface="Assistant" pitchFamily="2" charset="-79"/>
                <a:cs typeface="Assistant" pitchFamily="2" charset="-79"/>
              </a:rPr>
              <a:t>אירוע לחיצה:</a:t>
            </a:r>
            <a:r>
              <a:rPr lang="he-IL" dirty="0">
                <a:latin typeface="Assistant" pitchFamily="2" charset="-79"/>
                <a:cs typeface="Assistant" pitchFamily="2" charset="-79"/>
              </a:rPr>
              <a:t> שימוש בפקודה להצגת הודעה (</a:t>
            </a:r>
            <a:r>
              <a:rPr lang="he-IL" dirty="0" err="1">
                <a:latin typeface="Assistant" pitchFamily="2" charset="-79"/>
                <a:cs typeface="Assistant" pitchFamily="2" charset="-79"/>
              </a:rPr>
              <a:t>Message</a:t>
            </a:r>
            <a:r>
              <a:rPr lang="he-IL" dirty="0">
                <a:latin typeface="Assistant" pitchFamily="2" charset="-79"/>
                <a:cs typeface="Assistant" pitchFamily="2" charset="-79"/>
              </a:rPr>
              <a:t> </a:t>
            </a:r>
            <a:r>
              <a:rPr lang="he-IL" dirty="0" err="1">
                <a:latin typeface="Assistant" pitchFamily="2" charset="-79"/>
                <a:cs typeface="Assistant" pitchFamily="2" charset="-79"/>
              </a:rPr>
              <a:t>Box</a:t>
            </a:r>
            <a:r>
              <a:rPr lang="he-IL" dirty="0">
                <a:latin typeface="Assistant" pitchFamily="2" charset="-79"/>
                <a:cs typeface="Assistant" pitchFamily="2" charset="-79"/>
              </a:rPr>
              <a:t>) בעת לחיצה על הכפתור.</a:t>
            </a:r>
            <a:endParaRPr lang="he-IL" noProof="0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43" name="Google Shape;443;p35">
            <a:extLst>
              <a:ext uri="{FF2B5EF4-FFF2-40B4-BE49-F238E27FC236}">
                <a16:creationId xmlns:a16="http://schemas.microsoft.com/office/drawing/2014/main" id="{1095CE14-9CDB-D978-4EB4-0B7F6A17922F}"/>
              </a:ext>
            </a:extLst>
          </p:cNvPr>
          <p:cNvSpPr txBox="1"/>
          <p:nvPr/>
        </p:nvSpPr>
        <p:spPr>
          <a:xfrm>
            <a:off x="571500" y="2679501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r" rtl="1">
              <a:lnSpc>
                <a:spcPct val="160000"/>
              </a:lnSpc>
            </a:pPr>
            <a:r>
              <a:rPr lang="he-IL" b="1" dirty="0">
                <a:latin typeface="Assistant" pitchFamily="2" charset="-79"/>
                <a:cs typeface="Assistant" pitchFamily="2" charset="-79"/>
              </a:rPr>
              <a:t>ניהול פריסה:</a:t>
            </a:r>
            <a:r>
              <a:rPr lang="he-IL" dirty="0">
                <a:latin typeface="Assistant" pitchFamily="2" charset="-79"/>
                <a:cs typeface="Assistant" pitchFamily="2" charset="-79"/>
              </a:rPr>
              <a:t> מיקום הכפתור בתוך החלון בעזרת </a:t>
            </a:r>
            <a:r>
              <a:rPr lang="he-IL" dirty="0" err="1">
                <a:latin typeface="Assistant" pitchFamily="2" charset="-79"/>
                <a:cs typeface="Assistant" pitchFamily="2" charset="-79"/>
              </a:rPr>
              <a:t>pack</a:t>
            </a:r>
            <a:endParaRPr lang="he-IL" noProof="0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44" name="Google Shape;444;p35">
            <a:extLst>
              <a:ext uri="{FF2B5EF4-FFF2-40B4-BE49-F238E27FC236}">
                <a16:creationId xmlns:a16="http://schemas.microsoft.com/office/drawing/2014/main" id="{8483FFC9-3466-A2CC-3CBB-040E3F0A2A9B}"/>
              </a:ext>
            </a:extLst>
          </p:cNvPr>
          <p:cNvSpPr txBox="1"/>
          <p:nvPr/>
        </p:nvSpPr>
        <p:spPr>
          <a:xfrm>
            <a:off x="571500" y="3186112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he-IL" noProof="0" dirty="0"/>
          </a:p>
        </p:txBody>
      </p:sp>
      <p:sp>
        <p:nvSpPr>
          <p:cNvPr id="445" name="Google Shape;445;p35">
            <a:extLst>
              <a:ext uri="{FF2B5EF4-FFF2-40B4-BE49-F238E27FC236}">
                <a16:creationId xmlns:a16="http://schemas.microsoft.com/office/drawing/2014/main" id="{CB5DB86B-36C2-D76A-79E5-9BEBE6F71CF9}"/>
              </a:ext>
            </a:extLst>
          </p:cNvPr>
          <p:cNvSpPr txBox="1"/>
          <p:nvPr/>
        </p:nvSpPr>
        <p:spPr>
          <a:xfrm>
            <a:off x="571500" y="3692723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he-IL" noProof="0" dirty="0"/>
          </a:p>
        </p:txBody>
      </p:sp>
      <p:pic>
        <p:nvPicPr>
          <p:cNvPr id="446" name="Google Shape;446;p35" descr="image.png">
            <a:extLst>
              <a:ext uri="{FF2B5EF4-FFF2-40B4-BE49-F238E27FC236}">
                <a16:creationId xmlns:a16="http://schemas.microsoft.com/office/drawing/2014/main" id="{42AC9184-366C-6FD1-F551-D44FF94FE44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226040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35" descr="image.png">
            <a:extLst>
              <a:ext uri="{FF2B5EF4-FFF2-40B4-BE49-F238E27FC236}">
                <a16:creationId xmlns:a16="http://schemas.microsoft.com/office/drawing/2014/main" id="{51AFDF29-BAEF-3660-4B3E-0D5A27B6C6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276701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A238EB00-CC44-347B-2A95-CEC403F60D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782" y="4286844"/>
            <a:ext cx="5153393" cy="1828349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3D1C9256-8CD3-0BBA-AD61-6A60771FB4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457" y="4560689"/>
            <a:ext cx="5153393" cy="1828349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4B8F9A8B-B54B-0DBA-BFC1-966914CA2E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9219" y="4560688"/>
            <a:ext cx="5153393" cy="1828349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D536EAE9-F9E0-3843-AF03-F7E5E446F9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319" y="3186111"/>
            <a:ext cx="7242596" cy="238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6721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48000"/>
            <a:ext cx="94297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24250"/>
            <a:ext cx="94297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00500"/>
            <a:ext cx="94297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76750"/>
            <a:ext cx="94297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48000"/>
            <a:ext cx="94297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14475" y="3524250"/>
            <a:ext cx="84867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3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2987" y="4000500"/>
            <a:ext cx="8958262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3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85962" y="4476750"/>
            <a:ext cx="8015287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7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יתרונות מרכזיים של </a:t>
            </a:r>
            <a:r>
              <a:rPr lang="en-US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TCL</a:t>
            </a:r>
            <a:endParaRPr lang="he-IL" noProof="0" dirty="0"/>
          </a:p>
        </p:txBody>
      </p:sp>
      <p:sp>
        <p:nvSpPr>
          <p:cNvPr id="483" name="Google Shape;483;p37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7"/>
          <p:cNvSpPr txBox="1"/>
          <p:nvPr/>
        </p:nvSpPr>
        <p:spPr>
          <a:xfrm>
            <a:off x="10191750" y="3114675"/>
            <a:ext cx="1428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200" b="1" i="0" u="none" strike="noStrike" cap="none" noProof="0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שילוב ב-C</a:t>
            </a:r>
            <a:endParaRPr lang="he-IL" noProof="0" dirty="0"/>
          </a:p>
        </p:txBody>
      </p:sp>
      <p:sp>
        <p:nvSpPr>
          <p:cNvPr id="485" name="Google Shape;485;p37"/>
          <p:cNvSpPr txBox="1"/>
          <p:nvPr/>
        </p:nvSpPr>
        <p:spPr>
          <a:xfrm>
            <a:off x="10191750" y="3590925"/>
            <a:ext cx="1428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200" b="1" i="0" u="none" strike="noStrike" cap="none" noProof="0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פיתוח GUI</a:t>
            </a:r>
            <a:endParaRPr lang="he-IL" noProof="0" dirty="0"/>
          </a:p>
        </p:txBody>
      </p:sp>
      <p:sp>
        <p:nvSpPr>
          <p:cNvPr id="486" name="Google Shape;486;p37"/>
          <p:cNvSpPr txBox="1"/>
          <p:nvPr/>
        </p:nvSpPr>
        <p:spPr>
          <a:xfrm>
            <a:off x="10191750" y="4067175"/>
            <a:ext cx="1428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200" b="1" i="0" u="none" strike="noStrike" cap="none" noProof="0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עיבוד טקסט</a:t>
            </a:r>
            <a:endParaRPr lang="he-IL" noProof="0" dirty="0"/>
          </a:p>
        </p:txBody>
      </p:sp>
      <p:sp>
        <p:nvSpPr>
          <p:cNvPr id="487" name="Google Shape;487;p37"/>
          <p:cNvSpPr txBox="1"/>
          <p:nvPr/>
        </p:nvSpPr>
        <p:spPr>
          <a:xfrm>
            <a:off x="10191750" y="4543425"/>
            <a:ext cx="1428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200" b="1" i="0" u="none" strike="noStrike" cap="none" noProof="0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ניידות</a:t>
            </a:r>
            <a:endParaRPr lang="he-IL" noProof="0" dirty="0"/>
          </a:p>
        </p:txBody>
      </p:sp>
      <p:sp>
        <p:nvSpPr>
          <p:cNvPr id="2" name="Google Shape;442;p35">
            <a:extLst>
              <a:ext uri="{FF2B5EF4-FFF2-40B4-BE49-F238E27FC236}">
                <a16:creationId xmlns:a16="http://schemas.microsoft.com/office/drawing/2014/main" id="{D4B9D996-1A1C-7743-46F4-3A89A8D6EE32}"/>
              </a:ext>
            </a:extLst>
          </p:cNvPr>
          <p:cNvSpPr txBox="1"/>
          <p:nvPr/>
        </p:nvSpPr>
        <p:spPr>
          <a:xfrm>
            <a:off x="552450" y="4953000"/>
            <a:ext cx="19240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1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(המספרים לא </a:t>
            </a:r>
            <a:r>
              <a:rPr lang="he-IL" sz="11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מדוייקים</a:t>
            </a:r>
            <a:r>
              <a:rPr lang="he-IL" sz="11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, זאת הערכה)</a:t>
            </a:r>
            <a:endParaRPr lang="he-IL" sz="1000" noProof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87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8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חסרונות ואתגרים</a:t>
            </a:r>
            <a:endParaRPr lang="he-IL" noProof="0" dirty="0"/>
          </a:p>
        </p:txBody>
      </p:sp>
      <p:sp>
        <p:nvSpPr>
          <p:cNvPr id="494" name="Google Shape;494;p38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8"/>
          <p:cNvSpPr txBox="1"/>
          <p:nvPr/>
        </p:nvSpPr>
        <p:spPr>
          <a:xfrm>
            <a:off x="571500" y="2915840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ביצועים: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איטית משמעותית מ-C/C++ בחישובים נומריים כבדים.</a:t>
            </a:r>
            <a:endParaRPr lang="he-IL" noProof="0" dirty="0"/>
          </a:p>
        </p:txBody>
      </p:sp>
      <p:sp>
        <p:nvSpPr>
          <p:cNvPr id="496" name="Google Shape;496;p38"/>
          <p:cNvSpPr txBox="1"/>
          <p:nvPr/>
        </p:nvSpPr>
        <p:spPr>
          <a:xfrm>
            <a:off x="571500" y="3422451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Dynamic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Typing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קושי באיתור שגיאות במערכות ענק, כי כל המשתנים זהים.</a:t>
            </a:r>
            <a:endParaRPr lang="he-IL" noProof="0" dirty="0"/>
          </a:p>
        </p:txBody>
      </p:sp>
      <p:sp>
        <p:nvSpPr>
          <p:cNvPr id="497" name="Google Shape;497;p38"/>
          <p:cNvSpPr txBox="1"/>
          <p:nvPr/>
        </p:nvSpPr>
        <p:spPr>
          <a:xfrm>
            <a:off x="571500" y="3929062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קהילה: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קטנה יותר בהשוואה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לפייתון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או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Java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כיום.</a:t>
            </a:r>
            <a:endParaRPr lang="he-IL" noProof="0" dirty="0"/>
          </a:p>
        </p:txBody>
      </p:sp>
      <p:sp>
        <p:nvSpPr>
          <p:cNvPr id="498" name="Google Shape;498;p38"/>
          <p:cNvSpPr txBox="1"/>
          <p:nvPr/>
        </p:nvSpPr>
        <p:spPr>
          <a:xfrm>
            <a:off x="571500" y="4435673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"</a:t>
            </a: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Quoting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Hell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": (ציטוט </a:t>
            </a: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מגהינום</a:t>
            </a:r>
            <a:r>
              <a:rPr lang="he-IL" sz="1650" b="1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תחביר הסוגריים עלול להפוך לבלתי קריא בקוד מורכב מאוד.</a:t>
            </a:r>
            <a:endParaRPr lang="he-IL" noProof="0" dirty="0"/>
          </a:p>
        </p:txBody>
      </p:sp>
      <p:pic>
        <p:nvPicPr>
          <p:cNvPr id="499" name="Google Shape;499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300335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350996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401657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4523183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8" name="Google Shape;508;p39"/>
          <p:cNvGrpSpPr/>
          <p:nvPr/>
        </p:nvGrpSpPr>
        <p:grpSpPr>
          <a:xfrm>
            <a:off x="28575" y="571500"/>
            <a:ext cx="11592075" cy="619200"/>
            <a:chOff x="28575" y="571500"/>
            <a:chExt cx="11592075" cy="619200"/>
          </a:xfrm>
        </p:grpSpPr>
        <p:sp>
          <p:nvSpPr>
            <p:cNvPr id="509" name="Google Shape;509;p39"/>
            <p:cNvSpPr txBox="1"/>
            <p:nvPr/>
          </p:nvSpPr>
          <p:spPr>
            <a:xfrm>
              <a:off x="28575" y="571500"/>
              <a:ext cx="11401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3300" b="1" noProof="0" dirty="0">
                  <a:solidFill>
                    <a:srgbClr val="003366"/>
                  </a:solidFill>
                  <a:latin typeface="Heebo"/>
                  <a:ea typeface="Heebo"/>
                  <a:cs typeface="Heebo"/>
                  <a:sym typeface="Heebo"/>
                </a:rPr>
                <a:t>סיכום ומסקנות</a:t>
              </a:r>
            </a:p>
          </p:txBody>
        </p:sp>
        <p:sp>
          <p:nvSpPr>
            <p:cNvPr id="510" name="Google Shape;510;p39"/>
            <p:cNvSpPr/>
            <p:nvPr/>
          </p:nvSpPr>
          <p:spPr>
            <a:xfrm>
              <a:off x="11563350" y="571500"/>
              <a:ext cx="57300" cy="6192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</p:grpSp>
      <p:grpSp>
        <p:nvGrpSpPr>
          <p:cNvPr id="511" name="Google Shape;511;p39"/>
          <p:cNvGrpSpPr/>
          <p:nvPr/>
        </p:nvGrpSpPr>
        <p:grpSpPr>
          <a:xfrm>
            <a:off x="571500" y="1714500"/>
            <a:ext cx="6191400" cy="4000500"/>
            <a:chOff x="0" y="0"/>
            <a:chExt cx="6191400" cy="4000500"/>
          </a:xfrm>
        </p:grpSpPr>
        <p:sp>
          <p:nvSpPr>
            <p:cNvPr id="512" name="Google Shape;512;p39"/>
            <p:cNvSpPr/>
            <p:nvPr/>
          </p:nvSpPr>
          <p:spPr>
            <a:xfrm>
              <a:off x="0" y="0"/>
              <a:ext cx="6191400" cy="40005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513" name="Google Shape;513;p39"/>
            <p:cNvSpPr txBox="1"/>
            <p:nvPr/>
          </p:nvSpPr>
          <p:spPr>
            <a:xfrm>
              <a:off x="285750" y="285750"/>
              <a:ext cx="56199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53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כוחה של הפשטות</a:t>
              </a:r>
            </a:p>
            <a:p>
              <a:pPr marL="0" lvl="0" indent="0" algn="r" rtl="1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he-IL" sz="136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העיקרון "</a:t>
              </a:r>
              <a:r>
                <a:rPr lang="he-IL" sz="136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Everything</a:t>
              </a:r>
              <a:r>
                <a:rPr lang="he-IL" sz="136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he-IL" sz="136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is</a:t>
              </a:r>
              <a:r>
                <a:rPr lang="he-IL" sz="136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a </a:t>
              </a:r>
              <a:r>
                <a:rPr lang="he-IL" sz="136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String</a:t>
              </a:r>
              <a:r>
                <a:rPr lang="he-IL" sz="136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" מעניק ל-</a:t>
              </a:r>
              <a:r>
                <a:rPr lang="he-IL" sz="136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Tcl</a:t>
              </a:r>
              <a:r>
                <a:rPr lang="he-IL" sz="136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אורתוגונליות יוצאת דופן וגמישות מקסימלית בתחביר.</a:t>
              </a:r>
            </a:p>
            <a:p>
              <a:pPr marL="0" lvl="0" indent="0" algn="r" rtl="1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he-IL" sz="153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שפת ה"דבק" האולטימטיבית</a:t>
              </a:r>
            </a:p>
            <a:p>
              <a:pPr marL="0" lvl="0" indent="0" algn="r" rtl="1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he-IL" sz="136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היכולת להטמיע את </a:t>
              </a:r>
              <a:r>
                <a:rPr lang="he-IL" sz="136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Tcl</a:t>
              </a:r>
              <a:r>
                <a:rPr lang="he-IL" sz="136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בתוך מערכות C/C++ הופכת אותה לכלי חיוני בתעשיות ה-EDA</a:t>
              </a:r>
              <a:r>
                <a:rPr lang="en-US" sz="136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(Electronic Design automation)</a:t>
              </a:r>
              <a:r>
                <a:rPr lang="he-IL" sz="136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והתקשורת.</a:t>
              </a:r>
            </a:p>
            <a:p>
              <a:pPr marL="0" lvl="0" indent="0" algn="r" rtl="1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he-IL" sz="153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פיתוח GUI מהיר</a:t>
              </a:r>
            </a:p>
            <a:p>
              <a:pPr marL="0" lvl="0" indent="0" algn="r" rtl="1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he-IL" sz="136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ספריית </a:t>
              </a:r>
              <a:r>
                <a:rPr lang="he-IL" sz="136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Tk</a:t>
              </a:r>
              <a:r>
                <a:rPr lang="he-IL" sz="136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נותרה אחת הדרכים המהירות והנגישות ביותר ליצירת ממשקי משתמש חוצי-פלטפורמות.</a:t>
              </a:r>
            </a:p>
            <a:p>
              <a:pPr marL="0" lvl="0" indent="0" algn="r" rtl="1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he-IL" sz="153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ניהול זיכרון יעיל</a:t>
              </a:r>
            </a:p>
            <a:p>
              <a:pPr marL="0" lvl="0" indent="0" algn="r" rtl="1">
                <a:spcBef>
                  <a:spcPts val="375"/>
                </a:spcBef>
                <a:spcAft>
                  <a:spcPts val="1125"/>
                </a:spcAft>
                <a:buNone/>
              </a:pPr>
              <a:r>
                <a:rPr lang="he-IL" sz="136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מנגנון ה-</a:t>
              </a:r>
              <a:r>
                <a:rPr lang="he-IL" sz="136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Reference</a:t>
              </a:r>
              <a:r>
                <a:rPr lang="he-IL" sz="136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he-IL" sz="136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Counting</a:t>
              </a:r>
              <a:r>
                <a:rPr lang="he-IL" sz="136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הדטרמיניסטי מבטיח ביצועים יציבים ללא השהיות של ה-GC.</a:t>
              </a:r>
            </a:p>
          </p:txBody>
        </p:sp>
      </p:grpSp>
      <p:pic>
        <p:nvPicPr>
          <p:cNvPr id="514" name="Google Shape;514;p39" descr="A sophisticated 3D abstract visualization of interlocking gears and digital nodes, representing software integration and structural simplicity, high-tech aesthetic, blue and gold color palette to match the presentation theme."/>
          <p:cNvPicPr preferRelativeResize="0"/>
          <p:nvPr/>
        </p:nvPicPr>
        <p:blipFill rotWithShape="1">
          <a:blip r:embed="rId5">
            <a:alphaModFix/>
          </a:blip>
          <a:srcRect t="6247" b="6256"/>
          <a:stretch/>
        </p:blipFill>
        <p:spPr>
          <a:xfrm>
            <a:off x="7048500" y="1714500"/>
            <a:ext cx="4572000" cy="4000500"/>
          </a:xfrm>
          <a:prstGeom prst="roundRect">
            <a:avLst>
              <a:gd name="adj" fmla="val 3571"/>
            </a:avLst>
          </a:prstGeom>
          <a:noFill/>
          <a:ln>
            <a:noFill/>
          </a:ln>
        </p:spPr>
      </p:pic>
      <p:sp>
        <p:nvSpPr>
          <p:cNvPr id="515" name="Google Shape;515;p39"/>
          <p:cNvSpPr/>
          <p:nvPr/>
        </p:nvSpPr>
        <p:spPr>
          <a:xfrm>
            <a:off x="7048500" y="1714500"/>
            <a:ext cx="4572000" cy="4000500"/>
          </a:xfrm>
          <a:prstGeom prst="roundRect">
            <a:avLst>
              <a:gd name="adj" fmla="val 3571"/>
            </a:avLst>
          </a:prstGeom>
          <a:solidFill>
            <a:srgbClr val="000000">
              <a:alpha val="0"/>
            </a:srgbClr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e-IL" noProof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Google Shape;520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40"/>
          <p:cNvSpPr txBox="1"/>
          <p:nvPr/>
        </p:nvSpPr>
        <p:spPr>
          <a:xfrm>
            <a:off x="295275" y="2097583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6000" b="0" i="0" u="none" strike="noStrike" cap="none" noProof="0" dirty="0">
                <a:solidFill>
                  <a:srgbClr val="D4AF37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שאלות?</a:t>
            </a:r>
            <a:endParaRPr lang="he-IL" noProof="0" dirty="0"/>
          </a:p>
        </p:txBody>
      </p:sp>
      <p:sp>
        <p:nvSpPr>
          <p:cNvPr id="522" name="Google Shape;522;p40"/>
          <p:cNvSpPr txBox="1"/>
          <p:nvPr/>
        </p:nvSpPr>
        <p:spPr>
          <a:xfrm>
            <a:off x="571500" y="3126283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200" b="0" i="0" u="none" strike="noStrike" cap="none" noProof="0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תודה רבה על ההקשבה!</a:t>
            </a:r>
            <a:endParaRPr lang="he-IL" sz="1800" noProof="0" dirty="0"/>
          </a:p>
        </p:txBody>
      </p:sp>
      <p:sp>
        <p:nvSpPr>
          <p:cNvPr id="523" name="Google Shape;523;p40"/>
          <p:cNvSpPr txBox="1"/>
          <p:nvPr/>
        </p:nvSpPr>
        <p:spPr>
          <a:xfrm>
            <a:off x="571500" y="4090094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מציגים: גדליה סבע ונועם חדד</a:t>
            </a:r>
            <a:endParaRPr lang="he-IL" noProof="0" dirty="0"/>
          </a:p>
        </p:txBody>
      </p:sp>
      <p:sp>
        <p:nvSpPr>
          <p:cNvPr id="524" name="Google Shape;524;p40"/>
          <p:cNvSpPr txBox="1"/>
          <p:nvPr/>
        </p:nvSpPr>
        <p:spPr>
          <a:xfrm>
            <a:off x="571500" y="442525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he-IL" noProof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07;p39">
            <a:extLst>
              <a:ext uri="{FF2B5EF4-FFF2-40B4-BE49-F238E27FC236}">
                <a16:creationId xmlns:a16="http://schemas.microsoft.com/office/drawing/2014/main" id="{6817E0E7-547A-9A42-BD86-A16CA108C9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Sources</a:t>
            </a:r>
            <a:endParaRPr lang="he-IL" noProof="0" dirty="0"/>
          </a:p>
        </p:txBody>
      </p:sp>
      <p:sp>
        <p:nvSpPr>
          <p:cNvPr id="531" name="Google Shape;531;p41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41"/>
          <p:cNvSpPr/>
          <p:nvPr/>
        </p:nvSpPr>
        <p:spPr>
          <a:xfrm>
            <a:off x="571500" y="275659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6AADE034-CAB3-9729-A82C-A4A7BB6AB661}"/>
              </a:ext>
            </a:extLst>
          </p:cNvPr>
          <p:cNvSpPr txBox="1"/>
          <p:nvPr/>
        </p:nvSpPr>
        <p:spPr>
          <a:xfrm>
            <a:off x="381000" y="1190625"/>
            <a:ext cx="1104900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buNone/>
            </a:pPr>
            <a:r>
              <a:rPr lang="he-IL" sz="1600" b="1" dirty="0"/>
              <a:t>היסטוריה, ייעוד ו-</a:t>
            </a:r>
            <a:r>
              <a:rPr lang="fr-FR" sz="1600" b="1" dirty="0"/>
              <a:t>Glue </a:t>
            </a:r>
            <a:r>
              <a:rPr lang="fr-FR" sz="1600" b="1" dirty="0" err="1"/>
              <a:t>Language</a:t>
            </a:r>
            <a:r>
              <a:rPr lang="he-IL" sz="1600" b="1" dirty="0"/>
              <a:t> </a:t>
            </a:r>
            <a:r>
              <a:rPr lang="fr-FR" sz="1600" b="1" dirty="0"/>
              <a:t>: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היסטוריה של </a:t>
            </a:r>
            <a:r>
              <a:rPr lang="fr-FR" sz="1600" dirty="0" err="1"/>
              <a:t>Tcl</a:t>
            </a:r>
            <a:r>
              <a:rPr lang="fr-FR" sz="1600" dirty="0"/>
              <a:t>/</a:t>
            </a:r>
            <a:r>
              <a:rPr lang="fr-FR" sz="1600" dirty="0" err="1"/>
              <a:t>Tk</a:t>
            </a:r>
            <a:r>
              <a:rPr lang="he-IL" sz="1600" dirty="0"/>
              <a:t>: </a:t>
            </a:r>
            <a:r>
              <a:rPr lang="fr-FR" sz="1600" dirty="0"/>
              <a:t> </a:t>
            </a:r>
            <a:r>
              <a:rPr lang="fr-FR" sz="1600" dirty="0">
                <a:hlinkClick r:id="rId4"/>
              </a:rPr>
              <a:t>https://tldp.org/HOWTO/TclTk-HOWTO-2.html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המושג </a:t>
            </a:r>
            <a:r>
              <a:rPr lang="fr-FR" sz="1600" dirty="0"/>
              <a:t>Glue </a:t>
            </a:r>
            <a:r>
              <a:rPr lang="fr-FR" sz="1600" dirty="0" err="1"/>
              <a:t>Language</a:t>
            </a:r>
            <a:r>
              <a:rPr lang="he-IL" sz="1600" dirty="0"/>
              <a:t>: </a:t>
            </a:r>
            <a:r>
              <a:rPr lang="fr-FR" sz="1600" dirty="0"/>
              <a:t> </a:t>
            </a:r>
            <a:r>
              <a:rPr lang="fr-FR" sz="1600" dirty="0">
                <a:hlinkClick r:id="rId5"/>
              </a:rPr>
              <a:t>https://www.devx.com/terms/glue-language/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פיתוח אבות-טיפוס ו"שפת דבק" </a:t>
            </a:r>
            <a:r>
              <a:rPr lang="fr-FR" sz="1600" dirty="0"/>
              <a:t>USENIX </a:t>
            </a:r>
            <a:r>
              <a:rPr lang="fr-FR" sz="1600" dirty="0">
                <a:hlinkClick r:id="rId6"/>
              </a:rPr>
              <a:t>https://www.usenix.org/legacy/events/tcl98/tcl98/full_papers/amaranth/amaranth_html/amaranth.html</a:t>
            </a:r>
            <a:endParaRPr lang="fr-FR" sz="1600" dirty="0"/>
          </a:p>
          <a:p>
            <a:pPr algn="r" rtl="1">
              <a:buNone/>
            </a:pPr>
            <a:endParaRPr lang="he-IL" sz="1600" b="1" dirty="0"/>
          </a:p>
          <a:p>
            <a:pPr algn="r" rtl="1">
              <a:buNone/>
            </a:pPr>
            <a:r>
              <a:rPr lang="he-IL" sz="1600" b="1" dirty="0"/>
              <a:t>מודל נתונים, ניהול זיכרון (</a:t>
            </a:r>
            <a:r>
              <a:rPr lang="he-IL" sz="1600" b="1" dirty="0" err="1"/>
              <a:t>הכל</a:t>
            </a:r>
            <a:r>
              <a:rPr lang="he-IL" sz="1600" b="1" dirty="0"/>
              <a:t> מחרוזת):</a:t>
            </a:r>
            <a:endParaRPr lang="he-IL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 err="1"/>
              <a:t>הכל</a:t>
            </a:r>
            <a:r>
              <a:rPr lang="he-IL" sz="1600" dirty="0"/>
              <a:t> מחרוזת: </a:t>
            </a:r>
            <a:r>
              <a:rPr lang="fr-FR" sz="1600" dirty="0">
                <a:hlinkClick r:id="rId7"/>
              </a:rPr>
              <a:t>https://wiki.tcl-lang.org/page/everything+is+a+string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ניהול זיכרון: </a:t>
            </a:r>
            <a:r>
              <a:rPr lang="fr-FR" sz="1600" dirty="0">
                <a:hlinkClick r:id="rId8"/>
              </a:rPr>
              <a:t>https://wiki.tcl-lang.org/page/memory+management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איסוף זבל </a:t>
            </a:r>
            <a:r>
              <a:rPr lang="fr-FR" sz="1600" dirty="0"/>
              <a:t>Garbage Collection</a:t>
            </a:r>
            <a:r>
              <a:rPr lang="he-IL" sz="1600" dirty="0"/>
              <a:t>: </a:t>
            </a:r>
            <a:r>
              <a:rPr lang="fr-FR" sz="1600" dirty="0"/>
              <a:t> </a:t>
            </a:r>
            <a:r>
              <a:rPr lang="fr-FR" sz="1600" dirty="0">
                <a:hlinkClick r:id="rId9"/>
              </a:rPr>
              <a:t>https://wiki.tcl-lang.org/page/Garbage+collection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ארכיטקטורה ו-</a:t>
            </a:r>
            <a:r>
              <a:rPr lang="fr-FR" sz="1600" dirty="0" err="1"/>
              <a:t>Tcl_Obj</a:t>
            </a:r>
            <a:r>
              <a:rPr lang="fr-FR" sz="1600" dirty="0"/>
              <a:t> </a:t>
            </a:r>
            <a:r>
              <a:rPr lang="he-IL" sz="1600" dirty="0"/>
              <a:t>מאמר: </a:t>
            </a:r>
            <a:r>
              <a:rPr lang="fr-FR" sz="1600" dirty="0">
                <a:hlinkClick r:id="rId10"/>
              </a:rPr>
              <a:t>https://arxiv.org/html/2604.10399v1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סוגי נתונים דינמיים: </a:t>
            </a:r>
            <a:r>
              <a:rPr lang="fr-FR" sz="1600" dirty="0">
                <a:hlinkClick r:id="rId11"/>
              </a:rPr>
              <a:t>https://www.equi4.com/moam/strength.html</a:t>
            </a:r>
            <a:endParaRPr lang="fr-FR" sz="1600" dirty="0"/>
          </a:p>
          <a:p>
            <a:pPr algn="r" rtl="1">
              <a:buNone/>
            </a:pPr>
            <a:endParaRPr lang="he-IL" sz="1600" b="1" dirty="0"/>
          </a:p>
          <a:p>
            <a:pPr algn="r" rtl="1">
              <a:buNone/>
            </a:pPr>
            <a:r>
              <a:rPr lang="he-IL" sz="1600" b="1" dirty="0"/>
              <a:t>תחביר, פקודות ומרחבי הכרה </a:t>
            </a:r>
            <a:r>
              <a:rPr lang="fr-FR" sz="1600" b="1" dirty="0"/>
              <a:t>Scopes</a:t>
            </a:r>
            <a:r>
              <a:rPr lang="he-IL" sz="1600" b="1" dirty="0"/>
              <a:t>: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מדריך </a:t>
            </a:r>
            <a:r>
              <a:rPr lang="fr-FR" sz="1600" dirty="0" err="1"/>
              <a:t>Tcl</a:t>
            </a:r>
            <a:r>
              <a:rPr lang="fr-FR" sz="1600" dirty="0"/>
              <a:t> </a:t>
            </a:r>
            <a:r>
              <a:rPr lang="he-IL" sz="1600" dirty="0"/>
              <a:t>: </a:t>
            </a:r>
            <a:r>
              <a:rPr lang="fr-FR" sz="1600" dirty="0">
                <a:hlinkClick r:id="rId12"/>
              </a:rPr>
              <a:t>https://wiki.tcl-lang.org/page/Tcl+Tutorial+Lesson+14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תיעוד פקודת </a:t>
            </a:r>
            <a:r>
              <a:rPr lang="fr-FR" sz="1600" dirty="0" err="1"/>
              <a:t>expr</a:t>
            </a:r>
            <a:r>
              <a:rPr lang="he-IL" sz="1600" dirty="0"/>
              <a:t>:</a:t>
            </a:r>
            <a:r>
              <a:rPr lang="fr-FR" sz="1600" dirty="0"/>
              <a:t> </a:t>
            </a:r>
            <a:r>
              <a:rPr lang="fr-FR" sz="1600" dirty="0">
                <a:hlinkClick r:id="rId13"/>
              </a:rPr>
              <a:t>https://www.tcl-lang.org/man/tcl8.4/TclCmd/expr.htm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ניהול מרחבי הכרה </a:t>
            </a:r>
            <a:r>
              <a:rPr lang="fr-FR" sz="1600" dirty="0" err="1"/>
              <a:t>Namespaces</a:t>
            </a:r>
            <a:r>
              <a:rPr lang="fr-FR" sz="1600" dirty="0"/>
              <a:t> &amp; Scopes</a:t>
            </a:r>
            <a:r>
              <a:rPr lang="he-IL" sz="1600" dirty="0"/>
              <a:t>: </a:t>
            </a:r>
            <a:r>
              <a:rPr lang="fr-FR" sz="1600" dirty="0"/>
              <a:t> </a:t>
            </a:r>
            <a:r>
              <a:rPr lang="fr-FR" sz="1600" dirty="0">
                <a:hlinkClick r:id="rId14"/>
              </a:rPr>
              <a:t>http://www.beedub.com/book/2nd/Name.doc.html</a:t>
            </a:r>
            <a:endParaRPr lang="fr-FR" sz="1600" dirty="0"/>
          </a:p>
          <a:p>
            <a:pPr algn="r" rtl="1">
              <a:buNone/>
            </a:pPr>
            <a:endParaRPr lang="he-IL" sz="1600" b="1" dirty="0"/>
          </a:p>
          <a:p>
            <a:pPr algn="r" rtl="1">
              <a:buNone/>
            </a:pPr>
            <a:r>
              <a:rPr lang="he-IL" sz="1600" b="1" dirty="0"/>
              <a:t>תכנות מונחה עצמים </a:t>
            </a:r>
            <a:r>
              <a:rPr lang="fr-FR" sz="1600" b="1" dirty="0"/>
              <a:t>OOP</a:t>
            </a:r>
            <a:r>
              <a:rPr lang="he-IL" sz="1600" b="1" dirty="0"/>
              <a:t> : </a:t>
            </a:r>
          </a:p>
          <a:p>
            <a:pPr algn="r" rtl="1">
              <a:buNone/>
            </a:pPr>
            <a:r>
              <a:rPr lang="he-IL" sz="1600" dirty="0"/>
              <a:t>יתרונות וחסרונות של </a:t>
            </a:r>
            <a:r>
              <a:rPr lang="fr-FR" sz="1600" dirty="0"/>
              <a:t>OOP </a:t>
            </a:r>
            <a:r>
              <a:rPr lang="he-IL" sz="1600" dirty="0"/>
              <a:t>ב-</a:t>
            </a:r>
            <a:r>
              <a:rPr lang="fr-FR" sz="1600" dirty="0" err="1"/>
              <a:t>Tcl</a:t>
            </a:r>
            <a:r>
              <a:rPr lang="he-IL" sz="1600" dirty="0"/>
              <a:t>: </a:t>
            </a:r>
            <a:r>
              <a:rPr lang="fr-FR" sz="1600" dirty="0">
                <a:hlinkClick r:id="rId15"/>
              </a:rPr>
              <a:t>https://wiki.tcl-lang.org/page/Advantages+and+Disadvantages+of+OOP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ספריית </a:t>
            </a:r>
            <a:r>
              <a:rPr lang="fr-FR" sz="1600" dirty="0" err="1"/>
              <a:t>TclOO</a:t>
            </a:r>
            <a:r>
              <a:rPr lang="he-IL" sz="1600" dirty="0"/>
              <a:t>הרשמית: </a:t>
            </a:r>
            <a:r>
              <a:rPr lang="fr-FR" sz="1600" dirty="0">
                <a:hlinkClick r:id="rId16"/>
              </a:rPr>
              <a:t>https://github.com/tcltk/tcloo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היסטוריית </a:t>
            </a:r>
            <a:r>
              <a:rPr lang="fr-FR" sz="1600" dirty="0"/>
              <a:t>OOP </a:t>
            </a:r>
            <a:r>
              <a:rPr lang="he-IL" sz="1600" dirty="0"/>
              <a:t>ב-</a:t>
            </a:r>
            <a:r>
              <a:rPr lang="fr-FR" sz="1600" dirty="0" err="1"/>
              <a:t>Tcl</a:t>
            </a:r>
            <a:r>
              <a:rPr lang="he-IL" sz="1600" dirty="0"/>
              <a:t>: </a:t>
            </a:r>
            <a:r>
              <a:rPr lang="fr-FR" sz="1600" dirty="0"/>
              <a:t> </a:t>
            </a:r>
            <a:r>
              <a:rPr lang="fr-FR" sz="1600" dirty="0">
                <a:hlinkClick r:id="rId17"/>
              </a:rPr>
              <a:t>https://next-scripting.org/xowiki/docs/nx/tutorial</a:t>
            </a:r>
            <a:endParaRPr lang="fr-FR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1569</TotalTime>
  <Words>1598</Words>
  <Application>Microsoft Office PowerPoint</Application>
  <PresentationFormat>מסך רחב</PresentationFormat>
  <Paragraphs>190</Paragraphs>
  <Slides>28</Slides>
  <Notes>28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28</vt:i4>
      </vt:variant>
    </vt:vector>
  </HeadingPairs>
  <TitlesOfParts>
    <vt:vector size="35" baseType="lpstr">
      <vt:lpstr>Heebo ExtraBold</vt:lpstr>
      <vt:lpstr>Arial</vt:lpstr>
      <vt:lpstr>Heebo</vt:lpstr>
      <vt:lpstr>Courier New</vt:lpstr>
      <vt:lpstr>Calibri</vt:lpstr>
      <vt:lpstr>Assistant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נועם חדד</dc:creator>
  <cp:lastModifiedBy>נועם חדד</cp:lastModifiedBy>
  <cp:revision>75</cp:revision>
  <dcterms:modified xsi:type="dcterms:W3CDTF">2026-06-22T12:42:10Z</dcterms:modified>
</cp:coreProperties>
</file>